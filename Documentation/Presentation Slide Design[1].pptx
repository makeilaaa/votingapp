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3AFBB-4641-4549-83B8-1B2A7BD4530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D4A5B-1FAA-4F0D-BB53-666AF314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3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8" y="3996268"/>
            <a:ext cx="6987644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4" y="5883276"/>
            <a:ext cx="4324044" cy="365125"/>
          </a:xfrm>
        </p:spPr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oShape 2" descr="https://mail-attachment.googleusercontent.com/attachment/u/0/?ui=2&amp;ik=e689fbd123&amp;view=att&amp;th=1419332f62caf476&amp;attid=0.1&amp;disp=inline&amp;safe=1&amp;zw&amp;saduie=AG9B_P-4hm96KuH1-hL5rsre248O&amp;sadet=1381165322473&amp;sads=KHkuK9FGEQHXWkL0OGQmQ6c4VZE&amp;sadssc=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937"/>
            <a:ext cx="992475" cy="87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8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9" y="5867132"/>
            <a:ext cx="551166" cy="365125"/>
          </a:xfrm>
        </p:spPr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9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80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4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3" y="2667000"/>
            <a:ext cx="4895054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1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1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80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2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8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7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4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9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4" y="1600200"/>
            <a:ext cx="354912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5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4" y="2971800"/>
            <a:ext cx="3549122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3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3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3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4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3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4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6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1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3" y="3428999"/>
            <a:ext cx="8532814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63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3" y="4777381"/>
            <a:ext cx="1001870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12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6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1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09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3" y="4775200"/>
            <a:ext cx="10018709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2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1"/>
            <a:ext cx="10018713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7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7" y="685800"/>
            <a:ext cx="177037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65905" y="1"/>
            <a:ext cx="2436812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6"/>
            <a:ext cx="1143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6"/>
            <a:ext cx="7084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9" y="5883276"/>
            <a:ext cx="551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5D767F-9661-4460-816F-C000D03947DA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956" y="0"/>
            <a:ext cx="853440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1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" y="212436"/>
            <a:ext cx="11851985" cy="6068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400" b="1" dirty="0"/>
              <a:t>School of  Technology</a:t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Course: </a:t>
            </a:r>
            <a:r>
              <a:rPr lang="en-US" sz="2400" b="1" dirty="0">
                <a:solidFill>
                  <a:srgbClr val="0070C0"/>
                </a:solidFill>
              </a:rPr>
              <a:t>BSc. IT</a:t>
            </a: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/>
            </a: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Course Code: Course Name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Presentation Name: </a:t>
            </a:r>
            <a:r>
              <a:rPr lang="en-US" sz="2400" b="1" dirty="0">
                <a:solidFill>
                  <a:srgbClr val="0070C0"/>
                </a:solidFill>
              </a:rPr>
              <a:t>Research Proposal</a:t>
            </a: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Project Title : </a:t>
            </a:r>
            <a:r>
              <a:rPr lang="en-US" sz="2400" b="1" dirty="0">
                <a:solidFill>
                  <a:srgbClr val="0070C0"/>
                </a:solidFill>
              </a:rPr>
              <a:t>KCAU LIBSYS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Name of Student: </a:t>
            </a:r>
            <a:r>
              <a:rPr lang="en-US" sz="2400" b="1" dirty="0">
                <a:solidFill>
                  <a:srgbClr val="0070C0"/>
                </a:solidFill>
              </a:rPr>
              <a:t>John N. Other 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Registration Number: </a:t>
            </a:r>
            <a:r>
              <a:rPr lang="en-US" sz="2400" b="1" dirty="0">
                <a:solidFill>
                  <a:srgbClr val="0070C0"/>
                </a:solidFill>
              </a:rPr>
              <a:t>KCA/23/00001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Name of Supervisor: </a:t>
            </a:r>
            <a:r>
              <a:rPr lang="en-US" sz="2400" b="1" dirty="0">
                <a:solidFill>
                  <a:srgbClr val="0070C0"/>
                </a:solidFill>
              </a:rPr>
              <a:t>Prof. Smith J.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4763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03910"/>
            <a:ext cx="10018713" cy="6349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Background to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1826491"/>
            <a:ext cx="10018713" cy="3124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Give a general background or the context in which the problem exists and avoid defining the problem in this section. 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2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1184" y="66966"/>
            <a:ext cx="10018713" cy="782779"/>
          </a:xfrm>
        </p:spPr>
        <p:txBody>
          <a:bodyPr/>
          <a:lstStyle/>
          <a:p>
            <a:r>
              <a:rPr lang="en-US" b="1" dirty="0"/>
              <a:t>Problem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016000"/>
            <a:ext cx="10018713" cy="4775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In the proposal document </a:t>
            </a:r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sz="3200" dirty="0"/>
              <a:t>It should be written in prose form and </a:t>
            </a:r>
            <a:r>
              <a:rPr lang="en-US" sz="3200" b="1" dirty="0">
                <a:solidFill>
                  <a:srgbClr val="0070C0"/>
                </a:solidFill>
              </a:rPr>
              <a:t>not </a:t>
            </a:r>
            <a:r>
              <a:rPr lang="en-US" sz="3200" dirty="0"/>
              <a:t>bullets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In the oral presentation </a:t>
            </a:r>
            <a:r>
              <a:rPr lang="en-US" sz="3200" dirty="0">
                <a:sym typeface="Wingdings" panose="05000000000000000000" pitchFamily="2" charset="2"/>
              </a:rPr>
              <a:t> Bullets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4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828963"/>
          </a:xfrm>
        </p:spPr>
        <p:txBody>
          <a:bodyPr/>
          <a:lstStyle/>
          <a:p>
            <a:r>
              <a:rPr lang="en-US" b="1" dirty="0"/>
              <a:t>Key Terms/Operational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256146"/>
            <a:ext cx="10018713" cy="45350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Enumerate them and define them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3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775855"/>
          </a:xfrm>
        </p:spPr>
        <p:txBody>
          <a:bodyPr>
            <a:normAutofit/>
          </a:bodyPr>
          <a:lstStyle/>
          <a:p>
            <a:r>
              <a:rPr lang="en-US" b="1" dirty="0"/>
              <a:t>Proposed 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Broadly say what you intend to do with the stated problem to solve 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2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-155286"/>
            <a:ext cx="10018713" cy="884381"/>
          </a:xfrm>
        </p:spPr>
        <p:txBody>
          <a:bodyPr/>
          <a:lstStyle/>
          <a:p>
            <a:r>
              <a:rPr lang="en-US" b="1" dirty="0"/>
              <a:t>Project/Research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921164"/>
            <a:ext cx="10018713" cy="387003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You should lead off with a </a:t>
            </a:r>
            <a:r>
              <a:rPr lang="en-US" sz="1600" b="1" dirty="0">
                <a:solidFill>
                  <a:srgbClr val="0070C0"/>
                </a:solidFill>
              </a:rPr>
              <a:t>general objective </a:t>
            </a:r>
            <a:r>
              <a:rPr lang="en-US" sz="1600" dirty="0"/>
              <a:t>then narrow down to state the specific objectives.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/>
              <a:t>Example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say you want to develop a library system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General Objective</a:t>
            </a:r>
            <a:r>
              <a:rPr lang="en-US" sz="1600" dirty="0">
                <a:sym typeface="Wingdings" panose="05000000000000000000" pitchFamily="2" charset="2"/>
              </a:rPr>
              <a:t> This project/research seeks to develop a LIBSYS for KCAU……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Specific Objectives include: E.g. </a:t>
            </a:r>
            <a:r>
              <a:rPr lang="en-US" sz="1600" dirty="0">
                <a:sym typeface="Wingdings" panose="05000000000000000000" pitchFamily="2" charset="2"/>
              </a:rPr>
              <a:t> are the pieces of work that you shall do to get the system developed and working</a:t>
            </a:r>
            <a:endParaRPr lang="en-US" sz="1600" dirty="0"/>
          </a:p>
          <a:p>
            <a:pPr marL="971550" lvl="1" indent="-514350">
              <a:buFont typeface="+mj-lt"/>
              <a:buAutoNum type="romanLcPeriod"/>
            </a:pPr>
            <a:r>
              <a:rPr lang="en-US" sz="1600" dirty="0"/>
              <a:t>Establish the requirements for the LIBSYS </a:t>
            </a:r>
            <a:r>
              <a:rPr lang="en-US" sz="1600" dirty="0">
                <a:sym typeface="Wingdings" panose="05000000000000000000" pitchFamily="2" charset="2"/>
              </a:rPr>
              <a:t> SRS</a:t>
            </a:r>
            <a:endParaRPr lang="en-US" sz="1600" dirty="0"/>
          </a:p>
          <a:p>
            <a:pPr marL="971550" lvl="1" indent="-514350">
              <a:buFont typeface="+mj-lt"/>
              <a:buAutoNum type="romanLcPeriod"/>
            </a:pPr>
            <a:r>
              <a:rPr lang="en-US" sz="1600" dirty="0"/>
              <a:t>Design the LIBSYS </a:t>
            </a:r>
            <a:r>
              <a:rPr lang="en-US" sz="1600" dirty="0">
                <a:sym typeface="Wingdings" panose="05000000000000000000" pitchFamily="2" charset="2"/>
              </a:rPr>
              <a:t>SDS</a:t>
            </a:r>
            <a:endParaRPr lang="en-US" sz="1600" dirty="0"/>
          </a:p>
          <a:p>
            <a:pPr marL="971550" lvl="1" indent="-514350">
              <a:buFont typeface="+mj-lt"/>
              <a:buAutoNum type="romanLcPeriod"/>
            </a:pPr>
            <a:r>
              <a:rPr lang="en-US" sz="1600" dirty="0"/>
              <a:t>Construct/Implement the LIBSYS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a working system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600" dirty="0"/>
              <a:t>Verify and validate the LIBSYS against the requirements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1600" dirty="0"/>
              <a:t>Use and evaluate the performance of the LIBSYS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/>
              <a:t>NB: Use the SMART </a:t>
            </a:r>
            <a:r>
              <a:rPr lang="en-US" sz="1600" b="1" dirty="0">
                <a:solidFill>
                  <a:srgbClr val="FF0000"/>
                </a:solidFill>
              </a:rPr>
              <a:t>(?????) </a:t>
            </a:r>
            <a:r>
              <a:rPr lang="en-US" sz="1600" dirty="0"/>
              <a:t>criteria to write the 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2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66966"/>
            <a:ext cx="10018713" cy="764308"/>
          </a:xfrm>
        </p:spPr>
        <p:txBody>
          <a:bodyPr/>
          <a:lstStyle/>
          <a:p>
            <a:r>
              <a:rPr lang="en-US" b="1" dirty="0"/>
              <a:t>Scope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Not mandatory </a:t>
            </a:r>
            <a:r>
              <a:rPr lang="en-US" sz="4000" dirty="0">
                <a:sym typeface="Wingdings" panose="05000000000000000000" pitchFamily="2" charset="2"/>
              </a:rPr>
              <a:t></a:t>
            </a:r>
            <a:r>
              <a:rPr lang="en-US" sz="4000" dirty="0"/>
              <a:t> but if you wish you can set the boundaries of the areas that you will be studying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76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57018"/>
            <a:ext cx="10018713" cy="1136073"/>
          </a:xfrm>
        </p:spPr>
        <p:txBody>
          <a:bodyPr>
            <a:normAutofit/>
          </a:bodyPr>
          <a:lstStyle/>
          <a:p>
            <a:r>
              <a:rPr lang="en-US" b="1" dirty="0"/>
              <a:t>Significance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018" y="1798782"/>
            <a:ext cx="10542443" cy="3124201"/>
          </a:xfrm>
        </p:spPr>
        <p:txBody>
          <a:bodyPr>
            <a:normAutofit fontScale="85000" lnSpcReduction="10000"/>
          </a:bodyPr>
          <a:lstStyle/>
          <a:p>
            <a:r>
              <a:rPr lang="en-US" sz="4000" dirty="0"/>
              <a:t>This is the same as system objectives </a:t>
            </a:r>
            <a:r>
              <a:rPr lang="en-US" sz="4000" dirty="0">
                <a:sym typeface="Wingdings" panose="05000000000000000000" pitchFamily="2" charset="2"/>
              </a:rPr>
              <a:t> NOT Project/Research Objectives</a:t>
            </a:r>
          </a:p>
          <a:p>
            <a:endParaRPr lang="en-US" sz="4000" dirty="0"/>
          </a:p>
          <a:p>
            <a:r>
              <a:rPr lang="en-US" sz="4000" dirty="0"/>
              <a:t>Here you list the beneficiaries and the benefits they are likely to accrue from the development of the new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1184" y="223982"/>
            <a:ext cx="10018713" cy="6349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Literature Review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136074"/>
            <a:ext cx="10018713" cy="465512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Lead of with an introduction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Include </a:t>
            </a:r>
            <a:r>
              <a:rPr lang="en-US" sz="2200" b="1" dirty="0">
                <a:solidFill>
                  <a:srgbClr val="0070C0"/>
                </a:solidFill>
              </a:rPr>
              <a:t>at least </a:t>
            </a:r>
            <a:r>
              <a:rPr lang="en-US" sz="2200" dirty="0"/>
              <a:t>three related systems developed in the past, discuss their features and show which features are lacking.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/>
              <a:t>NB: The missing features are the ones you will include in your proposed system.</a:t>
            </a:r>
          </a:p>
          <a:p>
            <a:pPr marL="457200" lvl="1" indent="0">
              <a:buNone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All literature should include the citations of the sources in APA Citation and Referencing Style </a:t>
            </a:r>
            <a:r>
              <a:rPr lang="en-US" sz="2200" b="1" dirty="0">
                <a:solidFill>
                  <a:srgbClr val="FF0000"/>
                </a:solidFill>
              </a:rPr>
              <a:t>(????)</a:t>
            </a:r>
            <a:r>
              <a:rPr lang="en-US" sz="2200" dirty="0"/>
              <a:t>. </a:t>
            </a:r>
            <a:r>
              <a:rPr lang="en-US" sz="2200" dirty="0">
                <a:sym typeface="Wingdings" panose="05000000000000000000" pitchFamily="2" charset="2"/>
              </a:rPr>
              <a:t> Not less than 10 citations and references.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/>
              <a:t>End with a summary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72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420" y="0"/>
            <a:ext cx="10018713" cy="773544"/>
          </a:xfrm>
        </p:spPr>
        <p:txBody>
          <a:bodyPr/>
          <a:lstStyle/>
          <a:p>
            <a:r>
              <a:rPr lang="en-US" b="1" dirty="0"/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016000"/>
            <a:ext cx="10018713" cy="477520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Its </a:t>
            </a:r>
            <a:r>
              <a:rPr lang="en-US" sz="2800" dirty="0"/>
              <a:t>divided in to two parts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b="1" dirty="0"/>
              <a:t>Research Methodology </a:t>
            </a:r>
            <a:r>
              <a:rPr lang="en-US" sz="2800" dirty="0"/>
              <a:t>(mapped to research objective (</a:t>
            </a:r>
            <a:r>
              <a:rPr lang="en-US" sz="2800" dirty="0" err="1"/>
              <a:t>i</a:t>
            </a:r>
            <a:r>
              <a:rPr lang="en-US" sz="2800" dirty="0"/>
              <a:t>)</a:t>
            </a:r>
            <a:r>
              <a:rPr lang="en-US" sz="2800" dirty="0">
                <a:sym typeface="Wingdings" panose="05000000000000000000" pitchFamily="2" charset="2"/>
              </a:rPr>
              <a:t>output SRS document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600" dirty="0">
                <a:sym typeface="Wingdings" panose="05000000000000000000" pitchFamily="2" charset="2"/>
              </a:rPr>
              <a:t>Research Design  e.g. Case study of specific organizations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2400" dirty="0"/>
              <a:t>Justify the choice of the case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Population, sample and sampling technique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Data needed from the sample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Data collection methods and tools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Data analysis and presentation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69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729673"/>
          </a:xfrm>
        </p:spPr>
        <p:txBody>
          <a:bodyPr/>
          <a:lstStyle/>
          <a:p>
            <a:r>
              <a:rPr lang="en-US" b="1" dirty="0"/>
              <a:t>Project Methodology Contd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293090"/>
            <a:ext cx="10018713" cy="4913745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800" b="1" dirty="0"/>
              <a:t>Development Methodology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dirty="0"/>
              <a:t>NB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This section should be mapped to the Project/Research Objectives (ii-iv)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Process model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2-semester (Final Year) projects should not use the waterfall model. </a:t>
            </a:r>
            <a:r>
              <a:rPr lang="en-US" sz="2800" dirty="0">
                <a:solidFill>
                  <a:srgbClr val="FF0000"/>
                </a:solidFill>
              </a:rPr>
              <a:t>Why???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Should justify your methodology of choice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And explanation of the stages of the model/methodology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The graphical representation of the methodology </a:t>
            </a:r>
            <a:endParaRPr lang="en-US" sz="2800" b="1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dirty="0"/>
              <a:t>Avoid presenting my classroom notes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03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6996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Resources and Budget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1364672"/>
            <a:ext cx="10018713" cy="420485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You should have a list of available resources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You should create a budget table. Guidelines have been supplied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dirty="0"/>
              <a:t>NB: Tables must be uniquely identifies and labelled at the head of the table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91" y="3467099"/>
            <a:ext cx="10108331" cy="306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93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59" y="2512147"/>
            <a:ext cx="9774816" cy="36391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-1"/>
            <a:ext cx="10018713" cy="794327"/>
          </a:xfrm>
        </p:spPr>
        <p:txBody>
          <a:bodyPr>
            <a:normAutofit/>
          </a:bodyPr>
          <a:lstStyle/>
          <a:p>
            <a:r>
              <a:rPr lang="en-US" b="1" dirty="0"/>
              <a:t>Project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942110"/>
            <a:ext cx="10018713" cy="183803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sz="3200" dirty="0"/>
          </a:p>
          <a:p>
            <a:pPr>
              <a:buFont typeface="Wingdings" panose="05000000000000000000" pitchFamily="2" charset="2"/>
              <a:buChar char="v"/>
            </a:pPr>
            <a:endParaRPr lang="en-US" sz="32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5100" dirty="0"/>
              <a:t>You should present the time table of the project using guidelines supplied to you earlier.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5100" dirty="0"/>
          </a:p>
          <a:p>
            <a:pPr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1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120074"/>
            <a:ext cx="10018713" cy="6557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236" y="1581150"/>
            <a:ext cx="10018713" cy="3124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You should convert the project TT into a Gantt chart and present as a figure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/>
              <a:t>NB: Figures are identified uniquely and labelled at the foot of each figure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4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718126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Not less than 10 and in APA Citation and Referencing Style.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Prepared by R. Kibuku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Proposal Presentation Template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767F-9661-4460-816F-C000D03947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47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Indices and Logarithms</Template>
  <TotalTime>1030</TotalTime>
  <Words>664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Corbel</vt:lpstr>
      <vt:lpstr>Wingdings</vt:lpstr>
      <vt:lpstr>Parallax</vt:lpstr>
      <vt:lpstr>     School of  Technology  Course: BSc. IT  Course Code: Course Name  Presentation Name: Research Proposal  Project Title : KCAU LIBSYS  Name of Student: John N. Other   Registration Number: KCA/23/00001  Name of Supervisor: Prof. Smith J.  </vt:lpstr>
      <vt:lpstr>Background to the Problem</vt:lpstr>
      <vt:lpstr>Problem Statement </vt:lpstr>
      <vt:lpstr>Key Terms/Operational Definitions</vt:lpstr>
      <vt:lpstr>Proposed Solution </vt:lpstr>
      <vt:lpstr>Project/Research Objectives</vt:lpstr>
      <vt:lpstr>Scope of the Study</vt:lpstr>
      <vt:lpstr>Significance of the Study</vt:lpstr>
      <vt:lpstr>Literature Review </vt:lpstr>
      <vt:lpstr>Project Methodology</vt:lpstr>
      <vt:lpstr>Project Methodology Contd.</vt:lpstr>
      <vt:lpstr>Project Resources and Budget </vt:lpstr>
      <vt:lpstr>Project Schedule</vt:lpstr>
      <vt:lpstr>Gantt Chart</vt:lpstr>
      <vt:lpstr>References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USER</cp:lastModifiedBy>
  <cp:revision>82</cp:revision>
  <cp:lastPrinted>2021-05-30T14:18:07Z</cp:lastPrinted>
  <dcterms:created xsi:type="dcterms:W3CDTF">2021-05-29T20:09:11Z</dcterms:created>
  <dcterms:modified xsi:type="dcterms:W3CDTF">2024-10-16T08:43:13Z</dcterms:modified>
</cp:coreProperties>
</file>