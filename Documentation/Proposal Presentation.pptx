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059" autoAdjust="0"/>
    <p:restoredTop sz="94660"/>
  </p:normalViewPr>
  <p:slideViewPr>
    <p:cSldViewPr snapToGrid="0">
      <p:cViewPr varScale="1">
        <p:scale>
          <a:sx n="69" d="100"/>
          <a:sy n="69" d="100"/>
        </p:scale>
        <p:origin x="110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4E2732D-DE08-483A-9437-F14CD57E6BDD}"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668BFC-36B9-472B-9A7A-403AA6F789F7}" type="slidenum">
              <a:rPr lang="en-US" smtClean="0"/>
              <a:t>‹#›</a:t>
            </a:fld>
            <a:endParaRPr lang="en-US"/>
          </a:p>
        </p:txBody>
      </p:sp>
    </p:spTree>
    <p:extLst>
      <p:ext uri="{BB962C8B-B14F-4D97-AF65-F5344CB8AC3E}">
        <p14:creationId xmlns:p14="http://schemas.microsoft.com/office/powerpoint/2010/main" val="399497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E2732D-DE08-483A-9437-F14CD57E6BDD}"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668BFC-36B9-472B-9A7A-403AA6F789F7}" type="slidenum">
              <a:rPr lang="en-US" smtClean="0"/>
              <a:t>‹#›</a:t>
            </a:fld>
            <a:endParaRPr lang="en-US"/>
          </a:p>
        </p:txBody>
      </p:sp>
    </p:spTree>
    <p:extLst>
      <p:ext uri="{BB962C8B-B14F-4D97-AF65-F5344CB8AC3E}">
        <p14:creationId xmlns:p14="http://schemas.microsoft.com/office/powerpoint/2010/main" val="3485878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E2732D-DE08-483A-9437-F14CD57E6BDD}"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668BFC-36B9-472B-9A7A-403AA6F789F7}" type="slidenum">
              <a:rPr lang="en-US" smtClean="0"/>
              <a:t>‹#›</a:t>
            </a:fld>
            <a:endParaRPr lang="en-US"/>
          </a:p>
        </p:txBody>
      </p:sp>
    </p:spTree>
    <p:extLst>
      <p:ext uri="{BB962C8B-B14F-4D97-AF65-F5344CB8AC3E}">
        <p14:creationId xmlns:p14="http://schemas.microsoft.com/office/powerpoint/2010/main" val="2812870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E2732D-DE08-483A-9437-F14CD57E6BDD}"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668BFC-36B9-472B-9A7A-403AA6F789F7}" type="slidenum">
              <a:rPr lang="en-US" smtClean="0"/>
              <a:t>‹#›</a:t>
            </a:fld>
            <a:endParaRPr lang="en-US"/>
          </a:p>
        </p:txBody>
      </p:sp>
    </p:spTree>
    <p:extLst>
      <p:ext uri="{BB962C8B-B14F-4D97-AF65-F5344CB8AC3E}">
        <p14:creationId xmlns:p14="http://schemas.microsoft.com/office/powerpoint/2010/main" val="735719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4E2732D-DE08-483A-9437-F14CD57E6BDD}" type="datetimeFigureOut">
              <a:rPr lang="en-US" smtClean="0"/>
              <a:t>11/13/2025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E668BFC-36B9-472B-9A7A-403AA6F789F7}" type="slidenum">
              <a:rPr lang="en-US" smtClean="0"/>
              <a:t>‹#›</a:t>
            </a:fld>
            <a:endParaRPr lang="en-US"/>
          </a:p>
        </p:txBody>
      </p:sp>
    </p:spTree>
    <p:extLst>
      <p:ext uri="{BB962C8B-B14F-4D97-AF65-F5344CB8AC3E}">
        <p14:creationId xmlns:p14="http://schemas.microsoft.com/office/powerpoint/2010/main" val="992848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4E2732D-DE08-483A-9437-F14CD57E6BDD}" type="datetimeFigureOut">
              <a:rPr lang="en-US" smtClean="0"/>
              <a:t>11/13/2025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E668BFC-36B9-472B-9A7A-403AA6F789F7}" type="slidenum">
              <a:rPr lang="en-US" smtClean="0"/>
              <a:t>‹#›</a:t>
            </a:fld>
            <a:endParaRPr lang="en-US"/>
          </a:p>
        </p:txBody>
      </p:sp>
    </p:spTree>
    <p:extLst>
      <p:ext uri="{BB962C8B-B14F-4D97-AF65-F5344CB8AC3E}">
        <p14:creationId xmlns:p14="http://schemas.microsoft.com/office/powerpoint/2010/main" val="112562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E2732D-DE08-483A-9437-F14CD57E6BDD}" type="datetimeFigureOut">
              <a:rPr lang="en-US" smtClean="0"/>
              <a:t>11/13/2025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E668BFC-36B9-472B-9A7A-403AA6F789F7}" type="slidenum">
              <a:rPr lang="en-US" smtClean="0"/>
              <a:t>‹#›</a:t>
            </a:fld>
            <a:endParaRPr lang="en-US"/>
          </a:p>
        </p:txBody>
      </p:sp>
    </p:spTree>
    <p:extLst>
      <p:ext uri="{BB962C8B-B14F-4D97-AF65-F5344CB8AC3E}">
        <p14:creationId xmlns:p14="http://schemas.microsoft.com/office/powerpoint/2010/main" val="2780833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E2732D-DE08-483A-9437-F14CD57E6BDD}"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668BFC-36B9-472B-9A7A-403AA6F789F7}" type="slidenum">
              <a:rPr lang="en-US" smtClean="0"/>
              <a:t>‹#›</a:t>
            </a:fld>
            <a:endParaRPr lang="en-US"/>
          </a:p>
        </p:txBody>
      </p:sp>
    </p:spTree>
    <p:extLst>
      <p:ext uri="{BB962C8B-B14F-4D97-AF65-F5344CB8AC3E}">
        <p14:creationId xmlns:p14="http://schemas.microsoft.com/office/powerpoint/2010/main" val="2262567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668BFC-36B9-472B-9A7A-403AA6F789F7}" type="slidenum">
              <a:rPr lang="en-US" smtClean="0"/>
              <a:t>‹#›</a:t>
            </a:fld>
            <a:endParaRPr lang="en-US"/>
          </a:p>
        </p:txBody>
      </p:sp>
      <p:sp>
        <p:nvSpPr>
          <p:cNvPr id="5" name="Date Placeholder 4"/>
          <p:cNvSpPr>
            <a:spLocks noGrp="1"/>
          </p:cNvSpPr>
          <p:nvPr>
            <p:ph type="dt" sz="half" idx="10"/>
          </p:nvPr>
        </p:nvSpPr>
        <p:spPr/>
        <p:txBody>
          <a:bodyPr/>
          <a:lstStyle/>
          <a:p>
            <a:fld id="{A4E2732D-DE08-483A-9437-F14CD57E6BDD}" type="datetimeFigureOut">
              <a:rPr lang="en-US" smtClean="0"/>
              <a:t>11/13/2025</a:t>
            </a:fld>
            <a:endParaRPr lang="en-US"/>
          </a:p>
        </p:txBody>
      </p:sp>
    </p:spTree>
    <p:extLst>
      <p:ext uri="{BB962C8B-B14F-4D97-AF65-F5344CB8AC3E}">
        <p14:creationId xmlns:p14="http://schemas.microsoft.com/office/powerpoint/2010/main" val="286244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E2732D-DE08-483A-9437-F14CD57E6BDD}"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668BFC-36B9-472B-9A7A-403AA6F789F7}" type="slidenum">
              <a:rPr lang="en-US" smtClean="0"/>
              <a:t>‹#›</a:t>
            </a:fld>
            <a:endParaRPr lang="en-US"/>
          </a:p>
        </p:txBody>
      </p:sp>
    </p:spTree>
    <p:extLst>
      <p:ext uri="{BB962C8B-B14F-4D97-AF65-F5344CB8AC3E}">
        <p14:creationId xmlns:p14="http://schemas.microsoft.com/office/powerpoint/2010/main" val="8004014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E2732D-DE08-483A-9437-F14CD57E6BDD}"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668BFC-36B9-472B-9A7A-403AA6F789F7}"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21637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E2732D-DE08-483A-9437-F14CD57E6BDD}"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668BFC-36B9-472B-9A7A-403AA6F789F7}" type="slidenum">
              <a:rPr lang="en-US" smtClean="0"/>
              <a:t>‹#›</a:t>
            </a:fld>
            <a:endParaRPr lang="en-US"/>
          </a:p>
        </p:txBody>
      </p:sp>
    </p:spTree>
    <p:extLst>
      <p:ext uri="{BB962C8B-B14F-4D97-AF65-F5344CB8AC3E}">
        <p14:creationId xmlns:p14="http://schemas.microsoft.com/office/powerpoint/2010/main" val="6756127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E2732D-DE08-483A-9437-F14CD57E6BDD}"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668BFC-36B9-472B-9A7A-403AA6F789F7}"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083882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E2732D-DE08-483A-9437-F14CD57E6BDD}"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668BFC-36B9-472B-9A7A-403AA6F789F7}" type="slidenum">
              <a:rPr lang="en-US" smtClean="0"/>
              <a:t>‹#›</a:t>
            </a:fld>
            <a:endParaRPr lang="en-US"/>
          </a:p>
        </p:txBody>
      </p:sp>
    </p:spTree>
    <p:extLst>
      <p:ext uri="{BB962C8B-B14F-4D97-AF65-F5344CB8AC3E}">
        <p14:creationId xmlns:p14="http://schemas.microsoft.com/office/powerpoint/2010/main" val="6052630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E2732D-DE08-483A-9437-F14CD57E6BDD}"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668BFC-36B9-472B-9A7A-403AA6F789F7}" type="slidenum">
              <a:rPr lang="en-US" smtClean="0"/>
              <a:t>‹#›</a:t>
            </a:fld>
            <a:endParaRPr lang="en-US"/>
          </a:p>
        </p:txBody>
      </p:sp>
    </p:spTree>
    <p:extLst>
      <p:ext uri="{BB962C8B-B14F-4D97-AF65-F5344CB8AC3E}">
        <p14:creationId xmlns:p14="http://schemas.microsoft.com/office/powerpoint/2010/main" val="31043885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E2732D-DE08-483A-9437-F14CD57E6BDD}"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668BFC-36B9-472B-9A7A-403AA6F789F7}" type="slidenum">
              <a:rPr lang="en-US" smtClean="0"/>
              <a:t>‹#›</a:t>
            </a:fld>
            <a:endParaRPr lang="en-US"/>
          </a:p>
        </p:txBody>
      </p:sp>
    </p:spTree>
    <p:extLst>
      <p:ext uri="{BB962C8B-B14F-4D97-AF65-F5344CB8AC3E}">
        <p14:creationId xmlns:p14="http://schemas.microsoft.com/office/powerpoint/2010/main" val="3002509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4E2732D-DE08-483A-9437-F14CD57E6BDD}" type="datetimeFigureOut">
              <a:rPr lang="en-US" smtClean="0"/>
              <a:t>11/13/2025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E668BFC-36B9-472B-9A7A-403AA6F789F7}" type="slidenum">
              <a:rPr lang="en-US" smtClean="0"/>
              <a:t>‹#›</a:t>
            </a:fld>
            <a:endParaRPr lang="en-US"/>
          </a:p>
        </p:txBody>
      </p:sp>
    </p:spTree>
    <p:extLst>
      <p:ext uri="{BB962C8B-B14F-4D97-AF65-F5344CB8AC3E}">
        <p14:creationId xmlns:p14="http://schemas.microsoft.com/office/powerpoint/2010/main" val="160934372"/>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hyperlink" Target="https://www.studocu.com/row/document/kca-university/econometric/student-online-voting-system/21214639?origin=home-recent-1" TargetMode="External"/><Relationship Id="rId3" Type="http://schemas.openxmlformats.org/officeDocument/2006/relationships/hyperlink" Target="https://vote.uonbi.ac.ke/" TargetMode="External"/><Relationship Id="rId7" Type="http://schemas.openxmlformats.org/officeDocument/2006/relationships/hyperlink" Target="https://developer.android.com/studio/" TargetMode="External"/><Relationship Id="rId2" Type="http://schemas.openxmlformats.org/officeDocument/2006/relationships/hyperlink" Target="https://kabarak.ac.ke/evis" TargetMode="External"/><Relationship Id="rId1" Type="http://schemas.openxmlformats.org/officeDocument/2006/relationships/slideLayout" Target="../slideLayouts/slideLayout2.xml"/><Relationship Id="rId6" Type="http://schemas.openxmlformats.org/officeDocument/2006/relationships/hyperlink" Target="https://firebase.google.com/docs" TargetMode="External"/><Relationship Id="rId5" Type="http://schemas.openxmlformats.org/officeDocument/2006/relationships/hyperlink" Target="https://departments.embuni.ac.ke/ict/index.php/66-record-breaking-e-voting-success-at-the-university-of-embu" TargetMode="External"/><Relationship Id="rId10" Type="http://schemas.openxmlformats.org/officeDocument/2006/relationships/hyperlink" Target="https://papers.ssrn.com/sol3/papers.cfm?abstract_id=4810277" TargetMode="External"/><Relationship Id="rId4" Type="http://schemas.openxmlformats.org/officeDocument/2006/relationships/hyperlink" Target="https://www.ijssit.com/main/wp-content/uploads/2018/05/Student-Online-Voting-System.pdf" TargetMode="External"/><Relationship Id="rId9" Type="http://schemas.openxmlformats.org/officeDocument/2006/relationships/hyperlink" Target="https://ijrpr.com/uploads/V3ISSUE10/IJRPR7394.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F333C2B-40C0-68F6-CE8C-39E4754C04FB}"/>
              </a:ext>
            </a:extLst>
          </p:cNvPr>
          <p:cNvSpPr>
            <a:spLocks noGrp="1"/>
          </p:cNvSpPr>
          <p:nvPr>
            <p:ph type="subTitle" idx="1"/>
          </p:nvPr>
        </p:nvSpPr>
        <p:spPr>
          <a:xfrm>
            <a:off x="1507067" y="124690"/>
            <a:ext cx="7766936" cy="6373091"/>
          </a:xfrm>
        </p:spPr>
        <p:txBody>
          <a:bodyPr>
            <a:normAutofit lnSpcReduction="10000"/>
          </a:bodyPr>
          <a:lstStyle/>
          <a:p>
            <a:pPr algn="ctr"/>
            <a:r>
              <a:rPr lang="en-US" sz="1800" b="1" dirty="0"/>
              <a:t> </a:t>
            </a:r>
            <a:br>
              <a:rPr lang="en-US" sz="1800" b="1" dirty="0"/>
            </a:br>
            <a:endParaRPr lang="en-US" sz="1800" b="1" dirty="0"/>
          </a:p>
          <a:p>
            <a:pPr algn="ctr"/>
            <a:endParaRPr lang="en-US" b="1"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endParaRPr lang="en-US" sz="1800" b="1" dirty="0">
              <a:latin typeface="Times New Roman" panose="02020603050405020304" pitchFamily="18" charset="0"/>
              <a:ea typeface="Calibri" panose="020F0502020204030204" pitchFamily="34" charset="0"/>
              <a:cs typeface="Times New Roman" panose="02020603050405020304" pitchFamily="18" charset="0"/>
            </a:endParaRPr>
          </a:p>
          <a:p>
            <a:pPr algn="ct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r>
              <a:rPr lang="en-US" sz="1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SCHOOL OF TECHNOLOGY</a:t>
            </a:r>
            <a:br>
              <a:rPr lang="en-US" sz="1800" b="1" dirty="0">
                <a:solidFill>
                  <a:schemeClr val="tx1"/>
                </a:solidFill>
                <a:latin typeface="Times New Roman" panose="02020603050405020304" pitchFamily="18" charset="0"/>
                <a:cs typeface="Times New Roman" panose="02020603050405020304" pitchFamily="18" charset="0"/>
              </a:rPr>
            </a:br>
            <a:br>
              <a:rPr lang="en-US" sz="1800" b="1" dirty="0">
                <a:solidFill>
                  <a:schemeClr val="tx1"/>
                </a:solidFill>
                <a:latin typeface="Times New Roman" panose="02020603050405020304" pitchFamily="18" charset="0"/>
                <a:cs typeface="Times New Roman" panose="02020603050405020304" pitchFamily="18" charset="0"/>
              </a:rPr>
            </a:br>
            <a:r>
              <a:rPr lang="en-US" sz="1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BACHELOR OF SCIENCE IN INFORMATION TECHNOLOGY</a:t>
            </a:r>
            <a:br>
              <a:rPr lang="en-US" sz="1800" b="1" dirty="0">
                <a:solidFill>
                  <a:schemeClr val="tx1"/>
                </a:solidFill>
                <a:latin typeface="Times New Roman" panose="02020603050405020304" pitchFamily="18" charset="0"/>
                <a:cs typeface="Times New Roman" panose="02020603050405020304" pitchFamily="18" charset="0"/>
              </a:rPr>
            </a:br>
            <a:br>
              <a:rPr lang="en-US" sz="1800" b="1" dirty="0">
                <a:solidFill>
                  <a:schemeClr val="tx1"/>
                </a:solidFill>
                <a:latin typeface="Times New Roman" panose="02020603050405020304" pitchFamily="18" charset="0"/>
                <a:cs typeface="Times New Roman" panose="02020603050405020304" pitchFamily="18" charset="0"/>
              </a:rPr>
            </a:br>
            <a:r>
              <a:rPr lang="en-US" sz="1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UNIT: BIT 04105</a:t>
            </a:r>
            <a:br>
              <a:rPr lang="en-US" sz="1800" b="1" dirty="0">
                <a:solidFill>
                  <a:schemeClr val="tx1"/>
                </a:solidFill>
                <a:latin typeface="Times New Roman" panose="02020603050405020304" pitchFamily="18" charset="0"/>
                <a:cs typeface="Times New Roman" panose="02020603050405020304" pitchFamily="18" charset="0"/>
              </a:rPr>
            </a:br>
            <a:br>
              <a:rPr lang="en-US" sz="1800" b="1" dirty="0">
                <a:solidFill>
                  <a:schemeClr val="tx1"/>
                </a:solidFill>
                <a:latin typeface="Times New Roman" panose="02020603050405020304" pitchFamily="18" charset="0"/>
                <a:cs typeface="Times New Roman" panose="02020603050405020304" pitchFamily="18" charset="0"/>
              </a:rPr>
            </a:br>
            <a:r>
              <a:rPr lang="en-US" sz="1800" b="1" dirty="0">
                <a:solidFill>
                  <a:schemeClr val="tx1"/>
                </a:solidFill>
                <a:latin typeface="Times New Roman" panose="02020603050405020304" pitchFamily="18" charset="0"/>
                <a:cs typeface="Times New Roman" panose="02020603050405020304" pitchFamily="18" charset="0"/>
              </a:rPr>
              <a:t>RESEARCH PROPOSAL</a:t>
            </a:r>
            <a:br>
              <a:rPr lang="en-US" sz="1800" b="1" dirty="0">
                <a:solidFill>
                  <a:schemeClr val="tx1"/>
                </a:solidFill>
                <a:latin typeface="Times New Roman" panose="02020603050405020304" pitchFamily="18" charset="0"/>
                <a:cs typeface="Times New Roman" panose="02020603050405020304" pitchFamily="18" charset="0"/>
              </a:rPr>
            </a:br>
            <a:endParaRPr lang="en-US" b="1" dirty="0">
              <a:solidFill>
                <a:schemeClr val="tx1"/>
              </a:solidFill>
              <a:latin typeface="Times New Roman" panose="02020603050405020304" pitchFamily="18" charset="0"/>
              <a:cs typeface="Times New Roman" panose="02020603050405020304" pitchFamily="18" charset="0"/>
            </a:endParaRPr>
          </a:p>
          <a:p>
            <a:pPr algn="ctr"/>
            <a:r>
              <a:rPr lang="en-US" sz="1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TITLE:KCAU ONLINE VOTING SYSTEM</a:t>
            </a:r>
            <a:br>
              <a:rPr lang="en-US" sz="1800" b="1" dirty="0">
                <a:solidFill>
                  <a:schemeClr val="tx1"/>
                </a:solidFill>
                <a:latin typeface="Times New Roman" panose="02020603050405020304" pitchFamily="18" charset="0"/>
                <a:cs typeface="Times New Roman" panose="02020603050405020304" pitchFamily="18" charset="0"/>
              </a:rPr>
            </a:br>
            <a:br>
              <a:rPr lang="en-US" sz="1800" b="1" dirty="0">
                <a:solidFill>
                  <a:schemeClr val="tx1"/>
                </a:solidFill>
                <a:latin typeface="Times New Roman" panose="02020603050405020304" pitchFamily="18" charset="0"/>
                <a:cs typeface="Times New Roman" panose="02020603050405020304" pitchFamily="18" charset="0"/>
              </a:rPr>
            </a:br>
            <a:r>
              <a:rPr lang="en-US" sz="1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KAREN NJOKI KIARA</a:t>
            </a:r>
            <a:br>
              <a:rPr lang="en-US" sz="1800" b="1" dirty="0">
                <a:solidFill>
                  <a:schemeClr val="tx1"/>
                </a:solidFill>
                <a:latin typeface="Times New Roman" panose="02020603050405020304" pitchFamily="18" charset="0"/>
                <a:cs typeface="Times New Roman" panose="02020603050405020304" pitchFamily="18" charset="0"/>
              </a:rPr>
            </a:br>
            <a:br>
              <a:rPr lang="en-US" sz="1800" b="1" dirty="0">
                <a:solidFill>
                  <a:schemeClr val="tx1"/>
                </a:solidFill>
                <a:latin typeface="Times New Roman" panose="02020603050405020304" pitchFamily="18" charset="0"/>
                <a:cs typeface="Times New Roman" panose="02020603050405020304" pitchFamily="18" charset="0"/>
              </a:rPr>
            </a:br>
            <a:r>
              <a:rPr lang="en-US" sz="1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23/04687</a:t>
            </a:r>
            <a:br>
              <a:rPr lang="en-US" sz="1800" b="1" dirty="0">
                <a:solidFill>
                  <a:schemeClr val="tx1"/>
                </a:solidFill>
                <a:latin typeface="Times New Roman" panose="02020603050405020304" pitchFamily="18" charset="0"/>
                <a:cs typeface="Times New Roman" panose="02020603050405020304" pitchFamily="18" charset="0"/>
              </a:rPr>
            </a:br>
            <a:br>
              <a:rPr lang="en-US" sz="1800" b="1" dirty="0">
                <a:solidFill>
                  <a:schemeClr val="tx1"/>
                </a:solidFill>
                <a:latin typeface="Times New Roman" panose="02020603050405020304" pitchFamily="18" charset="0"/>
                <a:cs typeface="Times New Roman" panose="02020603050405020304" pitchFamily="18" charset="0"/>
              </a:rPr>
            </a:br>
            <a:r>
              <a:rPr lang="en-US" sz="1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SUPERVISED BY: DR. EDWIN OMOL</a:t>
            </a:r>
          </a:p>
          <a:p>
            <a:pPr algn="ctr"/>
            <a:br>
              <a:rPr lang="en-US" sz="1800" b="1" dirty="0">
                <a:solidFill>
                  <a:schemeClr val="tx1"/>
                </a:solidFill>
              </a:rPr>
            </a:br>
            <a:endParaRPr lang="en-US" b="1" dirty="0">
              <a:solidFill>
                <a:schemeClr val="tx1"/>
              </a:solidFill>
            </a:endParaRPr>
          </a:p>
        </p:txBody>
      </p:sp>
      <p:pic>
        <p:nvPicPr>
          <p:cNvPr id="4" name="Picture 3">
            <a:extLst>
              <a:ext uri="{FF2B5EF4-FFF2-40B4-BE49-F238E27FC236}">
                <a16:creationId xmlns:a16="http://schemas.microsoft.com/office/drawing/2014/main" id="{89865479-0F52-B071-2B8E-9B4EDAE7D59A}"/>
              </a:ext>
            </a:extLst>
          </p:cNvPr>
          <p:cNvPicPr>
            <a:picLocks noChangeAspect="1"/>
          </p:cNvPicPr>
          <p:nvPr/>
        </p:nvPicPr>
        <p:blipFill>
          <a:blip r:embed="rId2"/>
          <a:stretch>
            <a:fillRect/>
          </a:stretch>
        </p:blipFill>
        <p:spPr bwMode="auto">
          <a:xfrm>
            <a:off x="4140604" y="124690"/>
            <a:ext cx="2442307" cy="1579419"/>
          </a:xfrm>
          <a:prstGeom prst="rect">
            <a:avLst/>
          </a:prstGeom>
        </p:spPr>
      </p:pic>
    </p:spTree>
    <p:extLst>
      <p:ext uri="{BB962C8B-B14F-4D97-AF65-F5344CB8AC3E}">
        <p14:creationId xmlns:p14="http://schemas.microsoft.com/office/powerpoint/2010/main" val="1926515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9BDB8-C7D6-7502-224C-8ACADCCE583B}"/>
              </a:ext>
            </a:extLst>
          </p:cNvPr>
          <p:cNvSpPr>
            <a:spLocks noGrp="1"/>
          </p:cNvSpPr>
          <p:nvPr>
            <p:ph type="title"/>
          </p:nvPr>
        </p:nvSpPr>
        <p:spPr>
          <a:xfrm>
            <a:off x="677334" y="609600"/>
            <a:ext cx="8596668" cy="789709"/>
          </a:xfrm>
        </p:spPr>
        <p:txBody>
          <a:bodyPr/>
          <a:lstStyle/>
          <a:p>
            <a:r>
              <a:rPr lang="en-US" dirty="0"/>
              <a:t>Background to the Problem</a:t>
            </a:r>
            <a:endParaRPr lang="en-US" b="1" dirty="0"/>
          </a:p>
        </p:txBody>
      </p:sp>
      <p:sp>
        <p:nvSpPr>
          <p:cNvPr id="3" name="Content Placeholder 2">
            <a:extLst>
              <a:ext uri="{FF2B5EF4-FFF2-40B4-BE49-F238E27FC236}">
                <a16:creationId xmlns:a16="http://schemas.microsoft.com/office/drawing/2014/main" id="{8C776A1B-033F-2CF1-2093-47F882155780}"/>
              </a:ext>
            </a:extLst>
          </p:cNvPr>
          <p:cNvSpPr>
            <a:spLocks noGrp="1"/>
          </p:cNvSpPr>
          <p:nvPr>
            <p:ph idx="1"/>
          </p:nvPr>
        </p:nvSpPr>
        <p:spPr>
          <a:xfrm>
            <a:off x="677334" y="1399309"/>
            <a:ext cx="8596668" cy="4642053"/>
          </a:xfrm>
        </p:spPr>
        <p:txBody>
          <a:bodyPr/>
          <a:lstStyle/>
          <a:p>
            <a:r>
              <a:rPr lang="en-US" dirty="0">
                <a:solidFill>
                  <a:schemeClr val="tx1"/>
                </a:solidFill>
                <a:latin typeface="Times New Roman" panose="02020603050405020304" pitchFamily="18" charset="0"/>
                <a:cs typeface="Times New Roman" panose="02020603050405020304" pitchFamily="18" charset="0"/>
              </a:rPr>
              <a:t>KCA University conducts annual student elections under the </a:t>
            </a:r>
            <a:r>
              <a:rPr lang="en-US" b="1" dirty="0">
                <a:solidFill>
                  <a:schemeClr val="tx1"/>
                </a:solidFill>
                <a:latin typeface="Times New Roman" panose="02020603050405020304" pitchFamily="18" charset="0"/>
                <a:cs typeface="Times New Roman" panose="02020603050405020304" pitchFamily="18" charset="0"/>
              </a:rPr>
              <a:t>Students Association of KCA University (SAKU)</a:t>
            </a:r>
            <a:r>
              <a:rPr lang="en-US" dirty="0">
                <a:solidFill>
                  <a:schemeClr val="tx1"/>
                </a:solidFill>
                <a:latin typeface="Times New Roman" panose="02020603050405020304" pitchFamily="18" charset="0"/>
                <a:cs typeface="Times New Roman" panose="02020603050405020304" pitchFamily="18" charset="0"/>
              </a:rPr>
              <a:t>.</a:t>
            </a:r>
          </a:p>
          <a:p>
            <a:r>
              <a:rPr lang="en-US" dirty="0">
                <a:solidFill>
                  <a:schemeClr val="tx1"/>
                </a:solidFill>
                <a:latin typeface="Times New Roman" panose="02020603050405020304" pitchFamily="18" charset="0"/>
                <a:cs typeface="Times New Roman" panose="02020603050405020304" pitchFamily="18" charset="0"/>
              </a:rPr>
              <a:t>Elections are held on the </a:t>
            </a:r>
            <a:r>
              <a:rPr lang="en-US" b="1" dirty="0">
                <a:solidFill>
                  <a:schemeClr val="tx1"/>
                </a:solidFill>
                <a:latin typeface="Times New Roman" panose="02020603050405020304" pitchFamily="18" charset="0"/>
                <a:cs typeface="Times New Roman" panose="02020603050405020304" pitchFamily="18" charset="0"/>
              </a:rPr>
              <a:t>second last Tuesday of October</a:t>
            </a:r>
            <a:r>
              <a:rPr lang="en-US" dirty="0">
                <a:solidFill>
                  <a:schemeClr val="tx1"/>
                </a:solidFill>
                <a:latin typeface="Times New Roman" panose="02020603050405020304" pitchFamily="18" charset="0"/>
                <a:cs typeface="Times New Roman" panose="02020603050405020304" pitchFamily="18" charset="0"/>
              </a:rPr>
              <a:t> each year.</a:t>
            </a:r>
          </a:p>
          <a:p>
            <a:r>
              <a:rPr lang="en-US" dirty="0">
                <a:solidFill>
                  <a:schemeClr val="tx1"/>
                </a:solidFill>
                <a:latin typeface="Times New Roman" panose="02020603050405020304" pitchFamily="18" charset="0"/>
                <a:cs typeface="Times New Roman" panose="02020603050405020304" pitchFamily="18" charset="0"/>
              </a:rPr>
              <a:t>The current voting process is </a:t>
            </a:r>
            <a:r>
              <a:rPr lang="en-US" b="1" dirty="0">
                <a:solidFill>
                  <a:schemeClr val="tx1"/>
                </a:solidFill>
                <a:latin typeface="Times New Roman" panose="02020603050405020304" pitchFamily="18" charset="0"/>
                <a:cs typeface="Times New Roman" panose="02020603050405020304" pitchFamily="18" charset="0"/>
              </a:rPr>
              <a:t>desktop-based</a:t>
            </a:r>
            <a:r>
              <a:rPr lang="en-US" dirty="0">
                <a:solidFill>
                  <a:schemeClr val="tx1"/>
                </a:solidFill>
                <a:latin typeface="Times New Roman" panose="02020603050405020304" pitchFamily="18" charset="0"/>
                <a:cs typeface="Times New Roman" panose="02020603050405020304" pitchFamily="18" charset="0"/>
              </a:rPr>
              <a:t>, requiring students to be </a:t>
            </a:r>
            <a:r>
              <a:rPr lang="en-US" b="1" dirty="0">
                <a:solidFill>
                  <a:schemeClr val="tx1"/>
                </a:solidFill>
                <a:latin typeface="Times New Roman" panose="02020603050405020304" pitchFamily="18" charset="0"/>
                <a:cs typeface="Times New Roman" panose="02020603050405020304" pitchFamily="18" charset="0"/>
              </a:rPr>
              <a:t>physically present on campus</a:t>
            </a:r>
            <a:r>
              <a:rPr lang="en-US" dirty="0">
                <a:solidFill>
                  <a:schemeClr val="tx1"/>
                </a:solidFill>
                <a:latin typeface="Times New Roman" panose="02020603050405020304" pitchFamily="18" charset="0"/>
                <a:cs typeface="Times New Roman" panose="02020603050405020304" pitchFamily="18" charset="0"/>
              </a:rPr>
              <a:t>.</a:t>
            </a:r>
          </a:p>
          <a:p>
            <a:r>
              <a:rPr lang="en-US" dirty="0">
                <a:solidFill>
                  <a:schemeClr val="tx1"/>
                </a:solidFill>
                <a:latin typeface="Times New Roman" panose="02020603050405020304" pitchFamily="18" charset="0"/>
                <a:cs typeface="Times New Roman" panose="02020603050405020304" pitchFamily="18" charset="0"/>
              </a:rPr>
              <a:t>This leads to </a:t>
            </a:r>
            <a:r>
              <a:rPr lang="en-US" b="1" dirty="0">
                <a:solidFill>
                  <a:schemeClr val="tx1"/>
                </a:solidFill>
                <a:latin typeface="Times New Roman" panose="02020603050405020304" pitchFamily="18" charset="0"/>
                <a:cs typeface="Times New Roman" panose="02020603050405020304" pitchFamily="18" charset="0"/>
              </a:rPr>
              <a:t>low voter turnout</a:t>
            </a:r>
            <a:r>
              <a:rPr lang="en-US" dirty="0">
                <a:solidFill>
                  <a:schemeClr val="tx1"/>
                </a:solidFill>
                <a:latin typeface="Times New Roman" panose="02020603050405020304" pitchFamily="18" charset="0"/>
                <a:cs typeface="Times New Roman" panose="02020603050405020304" pitchFamily="18" charset="0"/>
              </a:rPr>
              <a:t> and </a:t>
            </a:r>
            <a:r>
              <a:rPr lang="en-US" b="1" dirty="0">
                <a:solidFill>
                  <a:schemeClr val="tx1"/>
                </a:solidFill>
                <a:latin typeface="Times New Roman" panose="02020603050405020304" pitchFamily="18" charset="0"/>
                <a:cs typeface="Times New Roman" panose="02020603050405020304" pitchFamily="18" charset="0"/>
              </a:rPr>
              <a:t>disruption of normal classes</a:t>
            </a:r>
            <a:r>
              <a:rPr lang="en-US" dirty="0">
                <a:solidFill>
                  <a:schemeClr val="tx1"/>
                </a:solidFill>
                <a:latin typeface="Times New Roman" panose="02020603050405020304" pitchFamily="18" charset="0"/>
                <a:cs typeface="Times New Roman" panose="02020603050405020304" pitchFamily="18" charset="0"/>
              </a:rPr>
              <a:t> since computer labs are closed for voting.</a:t>
            </a:r>
          </a:p>
          <a:p>
            <a:r>
              <a:rPr lang="en-US" dirty="0">
                <a:solidFill>
                  <a:schemeClr val="tx1"/>
                </a:solidFill>
                <a:latin typeface="Times New Roman" panose="02020603050405020304" pitchFamily="18" charset="0"/>
                <a:cs typeface="Times New Roman" panose="02020603050405020304" pitchFamily="18" charset="0"/>
              </a:rPr>
              <a:t>The system is </a:t>
            </a:r>
            <a:r>
              <a:rPr lang="en-US" b="1" dirty="0">
                <a:solidFill>
                  <a:schemeClr val="tx1"/>
                </a:solidFill>
                <a:latin typeface="Times New Roman" panose="02020603050405020304" pitchFamily="18" charset="0"/>
                <a:cs typeface="Times New Roman" panose="02020603050405020304" pitchFamily="18" charset="0"/>
              </a:rPr>
              <a:t>delegate-based</a:t>
            </a:r>
            <a:r>
              <a:rPr lang="en-US" dirty="0">
                <a:solidFill>
                  <a:schemeClr val="tx1"/>
                </a:solidFill>
                <a:latin typeface="Times New Roman" panose="02020603050405020304" pitchFamily="18" charset="0"/>
                <a:cs typeface="Times New Roman" panose="02020603050405020304" pitchFamily="18" charset="0"/>
              </a:rPr>
              <a:t>, where students elect delegates who later vote for the SAKU leaders.</a:t>
            </a:r>
          </a:p>
          <a:p>
            <a:r>
              <a:rPr lang="en-US" dirty="0">
                <a:solidFill>
                  <a:schemeClr val="tx1"/>
                </a:solidFill>
                <a:latin typeface="Times New Roman" panose="02020603050405020304" pitchFamily="18" charset="0"/>
                <a:cs typeface="Times New Roman" panose="02020603050405020304" pitchFamily="18" charset="0"/>
              </a:rPr>
              <a:t>This method </a:t>
            </a:r>
            <a:r>
              <a:rPr lang="en-US" b="1" dirty="0">
                <a:solidFill>
                  <a:schemeClr val="tx1"/>
                </a:solidFill>
                <a:latin typeface="Times New Roman" panose="02020603050405020304" pitchFamily="18" charset="0"/>
                <a:cs typeface="Times New Roman" panose="02020603050405020304" pitchFamily="18" charset="0"/>
              </a:rPr>
              <a:t>limits direct participation</a:t>
            </a:r>
            <a:r>
              <a:rPr lang="en-US" dirty="0">
                <a:solidFill>
                  <a:schemeClr val="tx1"/>
                </a:solidFill>
                <a:latin typeface="Times New Roman" panose="02020603050405020304" pitchFamily="18" charset="0"/>
                <a:cs typeface="Times New Roman" panose="02020603050405020304" pitchFamily="18" charset="0"/>
              </a:rPr>
              <a:t> and may result in </a:t>
            </a:r>
            <a:r>
              <a:rPr lang="en-US" b="1" dirty="0">
                <a:solidFill>
                  <a:schemeClr val="tx1"/>
                </a:solidFill>
                <a:latin typeface="Times New Roman" panose="02020603050405020304" pitchFamily="18" charset="0"/>
                <a:cs typeface="Times New Roman" panose="02020603050405020304" pitchFamily="18" charset="0"/>
              </a:rPr>
              <a:t>biased representation or influence</a:t>
            </a:r>
            <a:r>
              <a:rPr lang="en-US" dirty="0">
                <a:solidFill>
                  <a:schemeClr val="tx1"/>
                </a:solidFill>
                <a:latin typeface="Times New Roman" panose="02020603050405020304" pitchFamily="18" charset="0"/>
                <a:cs typeface="Times New Roman" panose="02020603050405020304" pitchFamily="18" charset="0"/>
              </a:rPr>
              <a:t>.</a:t>
            </a:r>
          </a:p>
          <a:p>
            <a:r>
              <a:rPr lang="en-US" dirty="0">
                <a:solidFill>
                  <a:schemeClr val="tx1"/>
                </a:solidFill>
                <a:latin typeface="Times New Roman" panose="02020603050405020304" pitchFamily="18" charset="0"/>
                <a:cs typeface="Times New Roman" panose="02020603050405020304" pitchFamily="18" charset="0"/>
              </a:rPr>
              <a:t>There is a need for a </a:t>
            </a:r>
            <a:r>
              <a:rPr lang="en-US" b="1" dirty="0">
                <a:solidFill>
                  <a:schemeClr val="tx1"/>
                </a:solidFill>
                <a:latin typeface="Times New Roman" panose="02020603050405020304" pitchFamily="18" charset="0"/>
                <a:cs typeface="Times New Roman" panose="02020603050405020304" pitchFamily="18" charset="0"/>
              </a:rPr>
              <a:t>modern online voting system</a:t>
            </a:r>
            <a:r>
              <a:rPr lang="en-US" dirty="0">
                <a:solidFill>
                  <a:schemeClr val="tx1"/>
                </a:solidFill>
                <a:latin typeface="Times New Roman" panose="02020603050405020304" pitchFamily="18" charset="0"/>
                <a:cs typeface="Times New Roman" panose="02020603050405020304" pitchFamily="18" charset="0"/>
              </a:rPr>
              <a:t> that allows students to vote securely and conveniently from any location.</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3936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64D99-8AB8-1504-E562-FC19F331A269}"/>
              </a:ext>
            </a:extLst>
          </p:cNvPr>
          <p:cNvSpPr>
            <a:spLocks noGrp="1"/>
          </p:cNvSpPr>
          <p:nvPr>
            <p:ph type="ctrTitle"/>
          </p:nvPr>
        </p:nvSpPr>
        <p:spPr>
          <a:xfrm>
            <a:off x="1507067" y="1033783"/>
            <a:ext cx="7766936" cy="1543161"/>
          </a:xfrm>
        </p:spPr>
        <p:txBody>
          <a:bodyPr/>
          <a:lstStyle/>
          <a:p>
            <a:pPr algn="ctr"/>
            <a:r>
              <a:rPr lang="en-US" b="1" dirty="0"/>
              <a:t>Problem Statement</a:t>
            </a:r>
            <a:br>
              <a:rPr lang="en-US" b="1" dirty="0"/>
            </a:br>
            <a:endParaRPr lang="en-US" dirty="0"/>
          </a:p>
        </p:txBody>
      </p:sp>
      <p:sp>
        <p:nvSpPr>
          <p:cNvPr id="3" name="Subtitle 2">
            <a:extLst>
              <a:ext uri="{FF2B5EF4-FFF2-40B4-BE49-F238E27FC236}">
                <a16:creationId xmlns:a16="http://schemas.microsoft.com/office/drawing/2014/main" id="{BF77A6B1-6447-9B66-FF45-D16DE4BA8D10}"/>
              </a:ext>
            </a:extLst>
          </p:cNvPr>
          <p:cNvSpPr>
            <a:spLocks noGrp="1"/>
          </p:cNvSpPr>
          <p:nvPr>
            <p:ph type="subTitle" idx="1"/>
          </p:nvPr>
        </p:nvSpPr>
        <p:spPr>
          <a:xfrm>
            <a:off x="1507067" y="1995055"/>
            <a:ext cx="7766936" cy="4364180"/>
          </a:xfrm>
        </p:spPr>
        <p:txBody>
          <a:bodyPr/>
          <a:lstStyle/>
          <a:p>
            <a:pPr algn="l"/>
            <a:r>
              <a:rPr lang="en-US" dirty="0">
                <a:solidFill>
                  <a:schemeClr val="tx1"/>
                </a:solidFill>
                <a:latin typeface="Times New Roman" panose="02020603050405020304" pitchFamily="18" charset="0"/>
                <a:cs typeface="Times New Roman" panose="02020603050405020304" pitchFamily="18" charset="0"/>
              </a:rPr>
              <a:t>The current student voting process at </a:t>
            </a:r>
            <a:r>
              <a:rPr lang="en-US" b="1" dirty="0">
                <a:solidFill>
                  <a:schemeClr val="tx1"/>
                </a:solidFill>
                <a:latin typeface="Times New Roman" panose="02020603050405020304" pitchFamily="18" charset="0"/>
                <a:cs typeface="Times New Roman" panose="02020603050405020304" pitchFamily="18" charset="0"/>
              </a:rPr>
              <a:t>KCA University</a:t>
            </a:r>
            <a:r>
              <a:rPr lang="en-US" dirty="0">
                <a:solidFill>
                  <a:schemeClr val="tx1"/>
                </a:solidFill>
                <a:latin typeface="Times New Roman" panose="02020603050405020304" pitchFamily="18" charset="0"/>
                <a:cs typeface="Times New Roman" panose="02020603050405020304" pitchFamily="18" charset="0"/>
              </a:rPr>
              <a:t> requires students to be </a:t>
            </a:r>
            <a:r>
              <a:rPr lang="en-US" b="1" dirty="0">
                <a:solidFill>
                  <a:schemeClr val="tx1"/>
                </a:solidFill>
                <a:latin typeface="Times New Roman" panose="02020603050405020304" pitchFamily="18" charset="0"/>
                <a:cs typeface="Times New Roman" panose="02020603050405020304" pitchFamily="18" charset="0"/>
              </a:rPr>
              <a:t>physically present</a:t>
            </a:r>
            <a:r>
              <a:rPr lang="en-US" dirty="0">
                <a:solidFill>
                  <a:schemeClr val="tx1"/>
                </a:solidFill>
                <a:latin typeface="Times New Roman" panose="02020603050405020304" pitchFamily="18" charset="0"/>
                <a:cs typeface="Times New Roman" panose="02020603050405020304" pitchFamily="18" charset="0"/>
              </a:rPr>
              <a:t> to cast their votes.</a:t>
            </a:r>
          </a:p>
          <a:p>
            <a:pPr algn="l"/>
            <a:r>
              <a:rPr lang="en-US" dirty="0">
                <a:solidFill>
                  <a:schemeClr val="tx1"/>
                </a:solidFill>
                <a:latin typeface="Times New Roman" panose="02020603050405020304" pitchFamily="18" charset="0"/>
                <a:cs typeface="Times New Roman" panose="02020603050405020304" pitchFamily="18" charset="0"/>
              </a:rPr>
              <a:t>The process is </a:t>
            </a:r>
            <a:r>
              <a:rPr lang="en-US" b="1" dirty="0">
                <a:solidFill>
                  <a:schemeClr val="tx1"/>
                </a:solidFill>
                <a:latin typeface="Times New Roman" panose="02020603050405020304" pitchFamily="18" charset="0"/>
                <a:cs typeface="Times New Roman" panose="02020603050405020304" pitchFamily="18" charset="0"/>
              </a:rPr>
              <a:t>time-consuming</a:t>
            </a:r>
            <a:r>
              <a:rPr lang="en-US" dirty="0">
                <a:solidFill>
                  <a:schemeClr val="tx1"/>
                </a:solidFill>
                <a:latin typeface="Times New Roman" panose="02020603050405020304" pitchFamily="18" charset="0"/>
                <a:cs typeface="Times New Roman" panose="02020603050405020304" pitchFamily="18" charset="0"/>
              </a:rPr>
              <a:t> and often leads to </a:t>
            </a:r>
            <a:r>
              <a:rPr lang="en-US" b="1" dirty="0">
                <a:solidFill>
                  <a:schemeClr val="tx1"/>
                </a:solidFill>
                <a:latin typeface="Times New Roman" panose="02020603050405020304" pitchFamily="18" charset="0"/>
                <a:cs typeface="Times New Roman" panose="02020603050405020304" pitchFamily="18" charset="0"/>
              </a:rPr>
              <a:t>low voter participation</a:t>
            </a:r>
            <a:r>
              <a:rPr lang="en-US" dirty="0">
                <a:solidFill>
                  <a:schemeClr val="tx1"/>
                </a:solidFill>
                <a:latin typeface="Times New Roman" panose="02020603050405020304" pitchFamily="18" charset="0"/>
                <a:cs typeface="Times New Roman" panose="02020603050405020304" pitchFamily="18" charset="0"/>
              </a:rPr>
              <a:t>, especially for students who are off-campus or have ongoing classes.</a:t>
            </a:r>
          </a:p>
          <a:p>
            <a:pPr algn="l"/>
            <a:r>
              <a:rPr lang="en-US" dirty="0">
                <a:solidFill>
                  <a:schemeClr val="tx1"/>
                </a:solidFill>
                <a:latin typeface="Times New Roman" panose="02020603050405020304" pitchFamily="18" charset="0"/>
                <a:cs typeface="Times New Roman" panose="02020603050405020304" pitchFamily="18" charset="0"/>
              </a:rPr>
              <a:t>The </a:t>
            </a:r>
            <a:r>
              <a:rPr lang="en-US" b="1" dirty="0">
                <a:solidFill>
                  <a:schemeClr val="tx1"/>
                </a:solidFill>
                <a:latin typeface="Times New Roman" panose="02020603050405020304" pitchFamily="18" charset="0"/>
                <a:cs typeface="Times New Roman" panose="02020603050405020304" pitchFamily="18" charset="0"/>
              </a:rPr>
              <a:t>delegate-based voting system</a:t>
            </a:r>
            <a:r>
              <a:rPr lang="en-US" dirty="0">
                <a:solidFill>
                  <a:schemeClr val="tx1"/>
                </a:solidFill>
                <a:latin typeface="Times New Roman" panose="02020603050405020304" pitchFamily="18" charset="0"/>
                <a:cs typeface="Times New Roman" panose="02020603050405020304" pitchFamily="18" charset="0"/>
              </a:rPr>
              <a:t> prevents many students from </a:t>
            </a:r>
            <a:r>
              <a:rPr lang="en-US" b="1" dirty="0">
                <a:solidFill>
                  <a:schemeClr val="tx1"/>
                </a:solidFill>
                <a:latin typeface="Times New Roman" panose="02020603050405020304" pitchFamily="18" charset="0"/>
                <a:cs typeface="Times New Roman" panose="02020603050405020304" pitchFamily="18" charset="0"/>
              </a:rPr>
              <a:t>directly participating</a:t>
            </a:r>
            <a:r>
              <a:rPr lang="en-US" dirty="0">
                <a:solidFill>
                  <a:schemeClr val="tx1"/>
                </a:solidFill>
                <a:latin typeface="Times New Roman" panose="02020603050405020304" pitchFamily="18" charset="0"/>
                <a:cs typeface="Times New Roman" panose="02020603050405020304" pitchFamily="18" charset="0"/>
              </a:rPr>
              <a:t> in electing their leaders.</a:t>
            </a:r>
          </a:p>
          <a:p>
            <a:pPr algn="l"/>
            <a:r>
              <a:rPr lang="en-US" dirty="0">
                <a:solidFill>
                  <a:schemeClr val="tx1"/>
                </a:solidFill>
                <a:latin typeface="Times New Roman" panose="02020603050405020304" pitchFamily="18" charset="0"/>
                <a:cs typeface="Times New Roman" panose="02020603050405020304" pitchFamily="18" charset="0"/>
              </a:rPr>
              <a:t>Manual coordination of elections results in </a:t>
            </a:r>
            <a:r>
              <a:rPr lang="en-US" b="1" dirty="0">
                <a:solidFill>
                  <a:schemeClr val="tx1"/>
                </a:solidFill>
                <a:latin typeface="Times New Roman" panose="02020603050405020304" pitchFamily="18" charset="0"/>
                <a:cs typeface="Times New Roman" panose="02020603050405020304" pitchFamily="18" charset="0"/>
              </a:rPr>
              <a:t>delays, inefficiencies</a:t>
            </a:r>
            <a:r>
              <a:rPr lang="en-US" dirty="0">
                <a:solidFill>
                  <a:schemeClr val="tx1"/>
                </a:solidFill>
                <a:latin typeface="Times New Roman" panose="02020603050405020304" pitchFamily="18" charset="0"/>
                <a:cs typeface="Times New Roman" panose="02020603050405020304" pitchFamily="18" charset="0"/>
              </a:rPr>
              <a:t>, and </a:t>
            </a:r>
            <a:r>
              <a:rPr lang="en-US" b="1" dirty="0">
                <a:solidFill>
                  <a:schemeClr val="tx1"/>
                </a:solidFill>
                <a:latin typeface="Times New Roman" panose="02020603050405020304" pitchFamily="18" charset="0"/>
                <a:cs typeface="Times New Roman" panose="02020603050405020304" pitchFamily="18" charset="0"/>
              </a:rPr>
              <a:t>potential bias</a:t>
            </a:r>
            <a:r>
              <a:rPr lang="en-US" dirty="0">
                <a:solidFill>
                  <a:schemeClr val="tx1"/>
                </a:solidFill>
                <a:latin typeface="Times New Roman" panose="02020603050405020304" pitchFamily="18" charset="0"/>
                <a:cs typeface="Times New Roman" panose="02020603050405020304" pitchFamily="18" charset="0"/>
              </a:rPr>
              <a:t> in the voting process.</a:t>
            </a:r>
          </a:p>
          <a:p>
            <a:pPr algn="l"/>
            <a:r>
              <a:rPr lang="en-US" dirty="0">
                <a:solidFill>
                  <a:schemeClr val="tx1"/>
                </a:solidFill>
                <a:latin typeface="Times New Roman" panose="02020603050405020304" pitchFamily="18" charset="0"/>
                <a:cs typeface="Times New Roman" panose="02020603050405020304" pitchFamily="18" charset="0"/>
              </a:rPr>
              <a:t>There is </a:t>
            </a:r>
            <a:r>
              <a:rPr lang="en-US" b="1" dirty="0">
                <a:solidFill>
                  <a:schemeClr val="tx1"/>
                </a:solidFill>
                <a:latin typeface="Times New Roman" panose="02020603050405020304" pitchFamily="18" charset="0"/>
                <a:cs typeface="Times New Roman" panose="02020603050405020304" pitchFamily="18" charset="0"/>
              </a:rPr>
              <a:t>no secure, transparent, or easily accessible platform</a:t>
            </a:r>
            <a:r>
              <a:rPr lang="en-US" dirty="0">
                <a:solidFill>
                  <a:schemeClr val="tx1"/>
                </a:solidFill>
                <a:latin typeface="Times New Roman" panose="02020603050405020304" pitchFamily="18" charset="0"/>
                <a:cs typeface="Times New Roman" panose="02020603050405020304" pitchFamily="18" charset="0"/>
              </a:rPr>
              <a:t> that allows all students to vote remotely.</a:t>
            </a:r>
          </a:p>
        </p:txBody>
      </p:sp>
    </p:spTree>
    <p:extLst>
      <p:ext uri="{BB962C8B-B14F-4D97-AF65-F5344CB8AC3E}">
        <p14:creationId xmlns:p14="http://schemas.microsoft.com/office/powerpoint/2010/main" val="4290206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1491D-5293-8C9A-976F-DCEC914B48A2}"/>
              </a:ext>
            </a:extLst>
          </p:cNvPr>
          <p:cNvSpPr>
            <a:spLocks noGrp="1"/>
          </p:cNvSpPr>
          <p:nvPr>
            <p:ph type="title"/>
          </p:nvPr>
        </p:nvSpPr>
        <p:spPr>
          <a:xfrm>
            <a:off x="566498" y="180109"/>
            <a:ext cx="8596668" cy="762000"/>
          </a:xfrm>
        </p:spPr>
        <p:txBody>
          <a:bodyPr/>
          <a:lstStyle/>
          <a:p>
            <a:pPr algn="ctr"/>
            <a:r>
              <a:rPr lang="en-US" dirty="0"/>
              <a:t>Key Terms</a:t>
            </a:r>
          </a:p>
        </p:txBody>
      </p:sp>
      <p:sp>
        <p:nvSpPr>
          <p:cNvPr id="3" name="Content Placeholder 2">
            <a:extLst>
              <a:ext uri="{FF2B5EF4-FFF2-40B4-BE49-F238E27FC236}">
                <a16:creationId xmlns:a16="http://schemas.microsoft.com/office/drawing/2014/main" id="{E7F41A8D-2FA9-B336-861F-90414E2EA15A}"/>
              </a:ext>
            </a:extLst>
          </p:cNvPr>
          <p:cNvSpPr>
            <a:spLocks noGrp="1"/>
          </p:cNvSpPr>
          <p:nvPr>
            <p:ph idx="1"/>
          </p:nvPr>
        </p:nvSpPr>
        <p:spPr>
          <a:xfrm>
            <a:off x="677334" y="942109"/>
            <a:ext cx="8596668" cy="5541818"/>
          </a:xfrm>
        </p:spPr>
        <p:txBody>
          <a:bodyPr>
            <a:normAutofit lnSpcReduction="10000"/>
          </a:bodyPr>
          <a:lstStyle/>
          <a:p>
            <a:r>
              <a:rPr lang="en-US" b="1" dirty="0">
                <a:solidFill>
                  <a:schemeClr val="tx1"/>
                </a:solidFill>
                <a:latin typeface="Times New Roman" panose="02020603050405020304" pitchFamily="18" charset="0"/>
                <a:cs typeface="Times New Roman" panose="02020603050405020304" pitchFamily="18" charset="0"/>
              </a:rPr>
              <a:t>SAKU (Students Association of KCA University):</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The official student governing body responsible for representing student interests within KCA University.</a:t>
            </a:r>
          </a:p>
          <a:p>
            <a:r>
              <a:rPr lang="en-US" b="1" dirty="0">
                <a:solidFill>
                  <a:schemeClr val="tx1"/>
                </a:solidFill>
                <a:latin typeface="Times New Roman" panose="02020603050405020304" pitchFamily="18" charset="0"/>
                <a:cs typeface="Times New Roman" panose="02020603050405020304" pitchFamily="18" charset="0"/>
              </a:rPr>
              <a:t>IECK (Independent Electoral Commission of KCA):</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A student-appointed body that oversees and manages the election process at KCA University.</a:t>
            </a:r>
          </a:p>
          <a:p>
            <a:r>
              <a:rPr lang="en-US" b="1" dirty="0">
                <a:solidFill>
                  <a:schemeClr val="tx1"/>
                </a:solidFill>
                <a:latin typeface="Times New Roman" panose="02020603050405020304" pitchFamily="18" charset="0"/>
                <a:cs typeface="Times New Roman" panose="02020603050405020304" pitchFamily="18" charset="0"/>
              </a:rPr>
              <a:t>Delegate: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A student elected to represent their department and participate in the voting process for SAKU officials.</a:t>
            </a:r>
          </a:p>
          <a:p>
            <a:r>
              <a:rPr lang="en-US" b="1" dirty="0">
                <a:solidFill>
                  <a:schemeClr val="tx1"/>
                </a:solidFill>
                <a:latin typeface="Times New Roman" panose="02020603050405020304" pitchFamily="18" charset="0"/>
                <a:cs typeface="Times New Roman" panose="02020603050405020304" pitchFamily="18" charset="0"/>
              </a:rPr>
              <a:t>Online Voting System:</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A computerized platform that enables eligible users to cast votes electronically through a mobile or web application.</a:t>
            </a:r>
          </a:p>
          <a:p>
            <a:r>
              <a:rPr lang="en-US" b="1" dirty="0">
                <a:solidFill>
                  <a:schemeClr val="tx1"/>
                </a:solidFill>
                <a:latin typeface="Times New Roman" panose="02020603050405020304" pitchFamily="18" charset="0"/>
                <a:cs typeface="Times New Roman" panose="02020603050405020304" pitchFamily="18" charset="0"/>
              </a:rPr>
              <a:t>Firebase: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A cloud-based platform developed by Google for building secure, scalable applications with real-time data synchronization.</a:t>
            </a:r>
          </a:p>
          <a:p>
            <a:r>
              <a:rPr lang="en-US" b="1" dirty="0" err="1">
                <a:solidFill>
                  <a:schemeClr val="tx1"/>
                </a:solidFill>
                <a:latin typeface="Times New Roman" panose="02020603050405020304" pitchFamily="18" charset="0"/>
                <a:cs typeface="Times New Roman" panose="02020603050405020304" pitchFamily="18" charset="0"/>
              </a:rPr>
              <a:t>Firestore</a:t>
            </a:r>
            <a:r>
              <a:rPr lang="en-US" b="1" dirty="0">
                <a:solidFill>
                  <a:schemeClr val="tx1"/>
                </a:solidFill>
                <a:latin typeface="Times New Roman" panose="02020603050405020304" pitchFamily="18" charset="0"/>
                <a:cs typeface="Times New Roman" panose="02020603050405020304" pitchFamily="18" charset="0"/>
              </a:rPr>
              <a:t> Database: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A NoSQL database service within Firebase that stores and retrieves data in real time for mobile and web applications.</a:t>
            </a:r>
          </a:p>
        </p:txBody>
      </p:sp>
    </p:spTree>
    <p:extLst>
      <p:ext uri="{BB962C8B-B14F-4D97-AF65-F5344CB8AC3E}">
        <p14:creationId xmlns:p14="http://schemas.microsoft.com/office/powerpoint/2010/main" val="3954415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C476D-F279-7CF3-EE24-6842636B2EC7}"/>
              </a:ext>
            </a:extLst>
          </p:cNvPr>
          <p:cNvSpPr>
            <a:spLocks noGrp="1"/>
          </p:cNvSpPr>
          <p:nvPr>
            <p:ph type="title"/>
          </p:nvPr>
        </p:nvSpPr>
        <p:spPr/>
        <p:txBody>
          <a:bodyPr/>
          <a:lstStyle/>
          <a:p>
            <a:r>
              <a:rPr lang="en-US" dirty="0"/>
              <a:t>Proposed Solution</a:t>
            </a:r>
          </a:p>
        </p:txBody>
      </p:sp>
      <p:sp>
        <p:nvSpPr>
          <p:cNvPr id="3" name="Content Placeholder 2">
            <a:extLst>
              <a:ext uri="{FF2B5EF4-FFF2-40B4-BE49-F238E27FC236}">
                <a16:creationId xmlns:a16="http://schemas.microsoft.com/office/drawing/2014/main" id="{21A45B42-95B0-6B92-4518-21C5C0C85B8D}"/>
              </a:ext>
            </a:extLst>
          </p:cNvPr>
          <p:cNvSpPr>
            <a:spLocks noGrp="1"/>
          </p:cNvSpPr>
          <p:nvPr>
            <p:ph idx="1"/>
          </p:nvPr>
        </p:nvSpPr>
        <p:spPr>
          <a:xfrm>
            <a:off x="677334" y="1524001"/>
            <a:ext cx="8596668" cy="4876800"/>
          </a:xfrm>
        </p:spPr>
        <p:txBody>
          <a:bodyPr/>
          <a:lstStyle/>
          <a:p>
            <a:r>
              <a:rPr lang="en-US" dirty="0">
                <a:solidFill>
                  <a:schemeClr val="tx1"/>
                </a:solidFill>
                <a:latin typeface="Times New Roman" panose="02020603050405020304" pitchFamily="18" charset="0"/>
                <a:cs typeface="Times New Roman" panose="02020603050405020304" pitchFamily="18" charset="0"/>
              </a:rPr>
              <a:t>The project proposes the development of a </a:t>
            </a:r>
            <a:r>
              <a:rPr lang="en-US" b="1" dirty="0">
                <a:solidFill>
                  <a:schemeClr val="tx1"/>
                </a:solidFill>
                <a:latin typeface="Times New Roman" panose="02020603050405020304" pitchFamily="18" charset="0"/>
                <a:cs typeface="Times New Roman" panose="02020603050405020304" pitchFamily="18" charset="0"/>
              </a:rPr>
              <a:t>mobile-based online voting system</a:t>
            </a:r>
            <a:r>
              <a:rPr lang="en-US" dirty="0">
                <a:solidFill>
                  <a:schemeClr val="tx1"/>
                </a:solidFill>
                <a:latin typeface="Times New Roman" panose="02020603050405020304" pitchFamily="18" charset="0"/>
                <a:cs typeface="Times New Roman" panose="02020603050405020304" pitchFamily="18" charset="0"/>
              </a:rPr>
              <a:t> for </a:t>
            </a:r>
            <a:r>
              <a:rPr lang="en-US" b="1" dirty="0">
                <a:solidFill>
                  <a:schemeClr val="tx1"/>
                </a:solidFill>
                <a:latin typeface="Times New Roman" panose="02020603050405020304" pitchFamily="18" charset="0"/>
                <a:cs typeface="Times New Roman" panose="02020603050405020304" pitchFamily="18" charset="0"/>
              </a:rPr>
              <a:t>KCA University.</a:t>
            </a:r>
          </a:p>
          <a:p>
            <a:r>
              <a:rPr lang="en-US" dirty="0">
                <a:solidFill>
                  <a:schemeClr val="tx1"/>
                </a:solidFill>
                <a:latin typeface="Times New Roman" panose="02020603050405020304" pitchFamily="18" charset="0"/>
                <a:cs typeface="Times New Roman" panose="02020603050405020304" pitchFamily="18" charset="0"/>
              </a:rPr>
              <a:t>The system will allow </a:t>
            </a:r>
            <a:r>
              <a:rPr lang="en-US" b="1" dirty="0">
                <a:solidFill>
                  <a:schemeClr val="tx1"/>
                </a:solidFill>
                <a:latin typeface="Times New Roman" panose="02020603050405020304" pitchFamily="18" charset="0"/>
                <a:cs typeface="Times New Roman" panose="02020603050405020304" pitchFamily="18" charset="0"/>
              </a:rPr>
              <a:t>students to vote directly</a:t>
            </a:r>
            <a:r>
              <a:rPr lang="en-US" dirty="0">
                <a:solidFill>
                  <a:schemeClr val="tx1"/>
                </a:solidFill>
                <a:latin typeface="Times New Roman" panose="02020603050405020304" pitchFamily="18" charset="0"/>
                <a:cs typeface="Times New Roman" panose="02020603050405020304" pitchFamily="18" charset="0"/>
              </a:rPr>
              <a:t> for SAKU leaders using their mobile devices</a:t>
            </a:r>
            <a:r>
              <a:rPr lang="en-US" b="1" dirty="0">
                <a:solidFill>
                  <a:schemeClr val="tx1"/>
                </a:solidFill>
                <a:latin typeface="Times New Roman" panose="02020603050405020304" pitchFamily="18" charset="0"/>
                <a:cs typeface="Times New Roman" panose="02020603050405020304" pitchFamily="18" charset="0"/>
              </a:rPr>
              <a:t>.</a:t>
            </a:r>
          </a:p>
          <a:p>
            <a:r>
              <a:rPr lang="en-US" dirty="0">
                <a:solidFill>
                  <a:schemeClr val="tx1"/>
                </a:solidFill>
                <a:latin typeface="Times New Roman" panose="02020603050405020304" pitchFamily="18" charset="0"/>
                <a:cs typeface="Times New Roman" panose="02020603050405020304" pitchFamily="18" charset="0"/>
              </a:rPr>
              <a:t>It will utilize </a:t>
            </a:r>
            <a:r>
              <a:rPr lang="en-US" b="1" dirty="0">
                <a:solidFill>
                  <a:schemeClr val="tx1"/>
                </a:solidFill>
                <a:latin typeface="Times New Roman" panose="02020603050405020304" pitchFamily="18" charset="0"/>
                <a:cs typeface="Times New Roman" panose="02020603050405020304" pitchFamily="18" charset="0"/>
              </a:rPr>
              <a:t>Firebase Authentication</a:t>
            </a:r>
            <a:r>
              <a:rPr lang="en-US" dirty="0">
                <a:solidFill>
                  <a:schemeClr val="tx1"/>
                </a:solidFill>
                <a:latin typeface="Times New Roman" panose="02020603050405020304" pitchFamily="18" charset="0"/>
                <a:cs typeface="Times New Roman" panose="02020603050405020304" pitchFamily="18" charset="0"/>
              </a:rPr>
              <a:t> for secure login and </a:t>
            </a:r>
            <a:r>
              <a:rPr lang="en-US" b="1" dirty="0" err="1">
                <a:solidFill>
                  <a:schemeClr val="tx1"/>
                </a:solidFill>
                <a:latin typeface="Times New Roman" panose="02020603050405020304" pitchFamily="18" charset="0"/>
                <a:cs typeface="Times New Roman" panose="02020603050405020304" pitchFamily="18" charset="0"/>
              </a:rPr>
              <a:t>Firestore</a:t>
            </a:r>
            <a:r>
              <a:rPr lang="en-US" b="1" dirty="0">
                <a:solidFill>
                  <a:schemeClr val="tx1"/>
                </a:solidFill>
                <a:latin typeface="Times New Roman" panose="02020603050405020304" pitchFamily="18" charset="0"/>
                <a:cs typeface="Times New Roman" panose="02020603050405020304" pitchFamily="18" charset="0"/>
              </a:rPr>
              <a:t> Database</a:t>
            </a:r>
            <a:r>
              <a:rPr lang="en-US" dirty="0">
                <a:solidFill>
                  <a:schemeClr val="tx1"/>
                </a:solidFill>
                <a:latin typeface="Times New Roman" panose="02020603050405020304" pitchFamily="18" charset="0"/>
                <a:cs typeface="Times New Roman" panose="02020603050405020304" pitchFamily="18" charset="0"/>
              </a:rPr>
              <a:t> for storing votes and election data.</a:t>
            </a:r>
          </a:p>
          <a:p>
            <a:r>
              <a:rPr lang="en-US" b="1" dirty="0">
                <a:solidFill>
                  <a:schemeClr val="tx1"/>
                </a:solidFill>
                <a:latin typeface="Times New Roman" panose="02020603050405020304" pitchFamily="18" charset="0"/>
                <a:cs typeface="Times New Roman" panose="02020603050405020304" pitchFamily="18" charset="0"/>
              </a:rPr>
              <a:t>The system will ensure one-student-one-vote</a:t>
            </a:r>
            <a:r>
              <a:rPr lang="en-US" dirty="0">
                <a:solidFill>
                  <a:schemeClr val="tx1"/>
                </a:solidFill>
                <a:latin typeface="Times New Roman" panose="02020603050405020304" pitchFamily="18" charset="0"/>
                <a:cs typeface="Times New Roman" panose="02020603050405020304" pitchFamily="18" charset="0"/>
              </a:rPr>
              <a:t> and provide </a:t>
            </a:r>
            <a:r>
              <a:rPr lang="en-US" b="1" dirty="0">
                <a:solidFill>
                  <a:schemeClr val="tx1"/>
                </a:solidFill>
                <a:latin typeface="Times New Roman" panose="02020603050405020304" pitchFamily="18" charset="0"/>
                <a:cs typeface="Times New Roman" panose="02020603050405020304" pitchFamily="18" charset="0"/>
              </a:rPr>
              <a:t>real-time result updates</a:t>
            </a:r>
            <a:r>
              <a:rPr lang="en-US" dirty="0">
                <a:solidFill>
                  <a:schemeClr val="tx1"/>
                </a:solidFill>
                <a:latin typeface="Times New Roman" panose="02020603050405020304" pitchFamily="18" charset="0"/>
                <a:cs typeface="Times New Roman" panose="02020603050405020304" pitchFamily="18" charset="0"/>
              </a:rPr>
              <a:t>.</a:t>
            </a:r>
          </a:p>
          <a:p>
            <a:r>
              <a:rPr lang="en-US" dirty="0">
                <a:solidFill>
                  <a:schemeClr val="tx1"/>
                </a:solidFill>
                <a:latin typeface="Times New Roman" panose="02020603050405020304" pitchFamily="18" charset="0"/>
                <a:cs typeface="Times New Roman" panose="02020603050405020304" pitchFamily="18" charset="0"/>
              </a:rPr>
              <a:t>Voting will be accessible </a:t>
            </a:r>
            <a:r>
              <a:rPr lang="en-US" b="1" dirty="0">
                <a:solidFill>
                  <a:schemeClr val="tx1"/>
                </a:solidFill>
                <a:latin typeface="Times New Roman" panose="02020603050405020304" pitchFamily="18" charset="0"/>
                <a:cs typeface="Times New Roman" panose="02020603050405020304" pitchFamily="18" charset="0"/>
              </a:rPr>
              <a:t>remotely</a:t>
            </a:r>
            <a:r>
              <a:rPr lang="en-US" dirty="0">
                <a:solidFill>
                  <a:schemeClr val="tx1"/>
                </a:solidFill>
                <a:latin typeface="Times New Roman" panose="02020603050405020304" pitchFamily="18" charset="0"/>
                <a:cs typeface="Times New Roman" panose="02020603050405020304" pitchFamily="18" charset="0"/>
              </a:rPr>
              <a:t>, reducing physical congestion and class interruptions.</a:t>
            </a:r>
          </a:p>
          <a:p>
            <a:r>
              <a:rPr lang="en-US" dirty="0">
                <a:solidFill>
                  <a:schemeClr val="tx1"/>
                </a:solidFill>
                <a:latin typeface="Times New Roman" panose="02020603050405020304" pitchFamily="18" charset="0"/>
                <a:cs typeface="Times New Roman" panose="02020603050405020304" pitchFamily="18" charset="0"/>
              </a:rPr>
              <a:t>Administrators (IECK) will be able to </a:t>
            </a:r>
            <a:r>
              <a:rPr lang="en-US" b="1" dirty="0">
                <a:solidFill>
                  <a:schemeClr val="tx1"/>
                </a:solidFill>
                <a:latin typeface="Times New Roman" panose="02020603050405020304" pitchFamily="18" charset="0"/>
                <a:cs typeface="Times New Roman" panose="02020603050405020304" pitchFamily="18" charset="0"/>
              </a:rPr>
              <a:t>create elections, manage candidates, and view verified results</a:t>
            </a:r>
            <a:r>
              <a:rPr lang="en-US" dirty="0">
                <a:solidFill>
                  <a:schemeClr val="tx1"/>
                </a:solidFill>
                <a:latin typeface="Times New Roman" panose="02020603050405020304" pitchFamily="18" charset="0"/>
                <a:cs typeface="Times New Roman" panose="02020603050405020304" pitchFamily="18" charset="0"/>
              </a:rPr>
              <a:t> through a secure dashboard.</a:t>
            </a:r>
            <a:endParaRPr lang="en-US" b="1"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The system will promote </a:t>
            </a:r>
            <a:r>
              <a:rPr lang="en-US" b="1" dirty="0">
                <a:solidFill>
                  <a:schemeClr val="tx1"/>
                </a:solidFill>
                <a:latin typeface="Times New Roman" panose="02020603050405020304" pitchFamily="18" charset="0"/>
                <a:cs typeface="Times New Roman" panose="02020603050405020304" pitchFamily="18" charset="0"/>
              </a:rPr>
              <a:t>transparency, accessibility, and efficiency</a:t>
            </a:r>
            <a:r>
              <a:rPr lang="en-US" dirty="0">
                <a:solidFill>
                  <a:schemeClr val="tx1"/>
                </a:solidFill>
                <a:latin typeface="Times New Roman" panose="02020603050405020304" pitchFamily="18" charset="0"/>
                <a:cs typeface="Times New Roman" panose="02020603050405020304" pitchFamily="18" charset="0"/>
              </a:rPr>
              <a:t> in student elections.</a:t>
            </a:r>
          </a:p>
        </p:txBody>
      </p:sp>
    </p:spTree>
    <p:extLst>
      <p:ext uri="{BB962C8B-B14F-4D97-AF65-F5344CB8AC3E}">
        <p14:creationId xmlns:p14="http://schemas.microsoft.com/office/powerpoint/2010/main" val="19193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F1C34-8180-BE8A-6CB3-11786AD01509}"/>
              </a:ext>
            </a:extLst>
          </p:cNvPr>
          <p:cNvSpPr>
            <a:spLocks noGrp="1"/>
          </p:cNvSpPr>
          <p:nvPr>
            <p:ph type="title"/>
          </p:nvPr>
        </p:nvSpPr>
        <p:spPr>
          <a:xfrm>
            <a:off x="677334" y="609600"/>
            <a:ext cx="8596668" cy="651164"/>
          </a:xfrm>
        </p:spPr>
        <p:txBody>
          <a:bodyPr/>
          <a:lstStyle/>
          <a:p>
            <a:r>
              <a:rPr lang="en-US" dirty="0"/>
              <a:t>Research Objectives</a:t>
            </a:r>
          </a:p>
        </p:txBody>
      </p:sp>
      <p:sp>
        <p:nvSpPr>
          <p:cNvPr id="3" name="Content Placeholder 2">
            <a:extLst>
              <a:ext uri="{FF2B5EF4-FFF2-40B4-BE49-F238E27FC236}">
                <a16:creationId xmlns:a16="http://schemas.microsoft.com/office/drawing/2014/main" id="{41E37FC0-BFDF-B9FD-E8E6-DA5DF3DD15ED}"/>
              </a:ext>
            </a:extLst>
          </p:cNvPr>
          <p:cNvSpPr>
            <a:spLocks noGrp="1"/>
          </p:cNvSpPr>
          <p:nvPr>
            <p:ph idx="1"/>
          </p:nvPr>
        </p:nvSpPr>
        <p:spPr>
          <a:xfrm>
            <a:off x="677334" y="1260765"/>
            <a:ext cx="8596668" cy="5153890"/>
          </a:xfrm>
        </p:spPr>
        <p:txBody>
          <a:bodyPr/>
          <a:lstStyle/>
          <a:p>
            <a:pPr marL="0" indent="0">
              <a:buNone/>
            </a:pPr>
            <a:r>
              <a:rPr lang="en-US" dirty="0">
                <a:solidFill>
                  <a:schemeClr val="tx1"/>
                </a:solidFill>
                <a:latin typeface="Times New Roman" panose="02020603050405020304" pitchFamily="18" charset="0"/>
                <a:cs typeface="Times New Roman" panose="02020603050405020304" pitchFamily="18" charset="0"/>
              </a:rPr>
              <a:t>General Objective:</a:t>
            </a:r>
          </a:p>
          <a:p>
            <a:r>
              <a:rPr lang="en-US" dirty="0">
                <a:solidFill>
                  <a:schemeClr val="tx1"/>
                </a:solidFill>
                <a:latin typeface="Times New Roman" panose="02020603050405020304" pitchFamily="18" charset="0"/>
                <a:cs typeface="Times New Roman" panose="02020603050405020304" pitchFamily="18" charset="0"/>
              </a:rPr>
              <a:t>To develop a </a:t>
            </a:r>
            <a:r>
              <a:rPr lang="en-US" b="1" dirty="0">
                <a:solidFill>
                  <a:schemeClr val="tx1"/>
                </a:solidFill>
                <a:latin typeface="Times New Roman" panose="02020603050405020304" pitchFamily="18" charset="0"/>
                <a:cs typeface="Times New Roman" panose="02020603050405020304" pitchFamily="18" charset="0"/>
              </a:rPr>
              <a:t>mobile-based online voting system</a:t>
            </a:r>
            <a:r>
              <a:rPr lang="en-US" dirty="0">
                <a:solidFill>
                  <a:schemeClr val="tx1"/>
                </a:solidFill>
                <a:latin typeface="Times New Roman" panose="02020603050405020304" pitchFamily="18" charset="0"/>
                <a:cs typeface="Times New Roman" panose="02020603050405020304" pitchFamily="18" charset="0"/>
              </a:rPr>
              <a:t> that enhances </a:t>
            </a:r>
            <a:r>
              <a:rPr lang="en-US" b="1" dirty="0">
                <a:solidFill>
                  <a:schemeClr val="tx1"/>
                </a:solidFill>
                <a:latin typeface="Times New Roman" panose="02020603050405020304" pitchFamily="18" charset="0"/>
                <a:cs typeface="Times New Roman" panose="02020603050405020304" pitchFamily="18" charset="0"/>
              </a:rPr>
              <a:t>accessibility, transparency, and efficiency</a:t>
            </a:r>
            <a:r>
              <a:rPr lang="en-US" dirty="0">
                <a:solidFill>
                  <a:schemeClr val="tx1"/>
                </a:solidFill>
                <a:latin typeface="Times New Roman" panose="02020603050405020304" pitchFamily="18" charset="0"/>
                <a:cs typeface="Times New Roman" panose="02020603050405020304" pitchFamily="18" charset="0"/>
              </a:rPr>
              <a:t> in student elections at </a:t>
            </a:r>
            <a:r>
              <a:rPr lang="en-US" b="1" dirty="0">
                <a:solidFill>
                  <a:schemeClr val="tx1"/>
                </a:solidFill>
                <a:latin typeface="Times New Roman" panose="02020603050405020304" pitchFamily="18" charset="0"/>
                <a:cs typeface="Times New Roman" panose="02020603050405020304" pitchFamily="18" charset="0"/>
              </a:rPr>
              <a:t>KCA University</a:t>
            </a:r>
            <a:r>
              <a:rPr lang="en-US" dirty="0">
                <a:solidFill>
                  <a:schemeClr val="tx1"/>
                </a:solidFill>
                <a:latin typeface="Times New Roman" panose="02020603050405020304" pitchFamily="18" charset="0"/>
                <a:cs typeface="Times New Roman" panose="02020603050405020304" pitchFamily="18" charset="0"/>
              </a:rPr>
              <a:t>.</a:t>
            </a:r>
          </a:p>
          <a:p>
            <a:pPr marL="0" indent="0">
              <a:buNone/>
            </a:pPr>
            <a:r>
              <a:rPr lang="en-US" dirty="0">
                <a:solidFill>
                  <a:schemeClr val="tx1"/>
                </a:solidFill>
                <a:latin typeface="Times New Roman" panose="02020603050405020304" pitchFamily="18" charset="0"/>
                <a:cs typeface="Times New Roman" panose="02020603050405020304" pitchFamily="18" charset="0"/>
              </a:rPr>
              <a:t>Specific Objectives:</a:t>
            </a:r>
          </a:p>
          <a:p>
            <a:pPr marL="400050" indent="-400050">
              <a:buFont typeface="+mj-lt"/>
              <a:buAutoNum type="romanLcPeriod"/>
            </a:pPr>
            <a:r>
              <a:rPr lang="en-US" dirty="0">
                <a:solidFill>
                  <a:schemeClr val="tx1"/>
                </a:solidFill>
                <a:latin typeface="Times New Roman" panose="02020603050405020304" pitchFamily="18" charset="0"/>
                <a:cs typeface="Times New Roman" panose="02020603050405020304" pitchFamily="18" charset="0"/>
              </a:rPr>
              <a:t>To </a:t>
            </a:r>
            <a:r>
              <a:rPr lang="en-US" b="1" dirty="0">
                <a:solidFill>
                  <a:schemeClr val="tx1"/>
                </a:solidFill>
                <a:latin typeface="Times New Roman" panose="02020603050405020304" pitchFamily="18" charset="0"/>
                <a:cs typeface="Times New Roman" panose="02020603050405020304" pitchFamily="18" charset="0"/>
              </a:rPr>
              <a:t>analyze</a:t>
            </a:r>
            <a:r>
              <a:rPr lang="en-US" dirty="0">
                <a:solidFill>
                  <a:schemeClr val="tx1"/>
                </a:solidFill>
                <a:latin typeface="Times New Roman" panose="02020603050405020304" pitchFamily="18" charset="0"/>
                <a:cs typeface="Times New Roman" panose="02020603050405020304" pitchFamily="18" charset="0"/>
              </a:rPr>
              <a:t> the current voting process and identify its weaknesses and limitations.</a:t>
            </a:r>
          </a:p>
          <a:p>
            <a:pPr marL="400050" indent="-400050">
              <a:buFont typeface="+mj-lt"/>
              <a:buAutoNum type="romanLcPeriod"/>
            </a:pPr>
            <a:r>
              <a:rPr lang="en-US" dirty="0">
                <a:solidFill>
                  <a:schemeClr val="tx1"/>
                </a:solidFill>
                <a:latin typeface="Times New Roman" panose="02020603050405020304" pitchFamily="18" charset="0"/>
                <a:cs typeface="Times New Roman" panose="02020603050405020304" pitchFamily="18" charset="0"/>
              </a:rPr>
              <a:t>To </a:t>
            </a:r>
            <a:r>
              <a:rPr lang="en-US" b="1" dirty="0">
                <a:solidFill>
                  <a:schemeClr val="tx1"/>
                </a:solidFill>
                <a:latin typeface="Times New Roman" panose="02020603050405020304" pitchFamily="18" charset="0"/>
                <a:cs typeface="Times New Roman" panose="02020603050405020304" pitchFamily="18" charset="0"/>
              </a:rPr>
              <a:t>design</a:t>
            </a:r>
            <a:r>
              <a:rPr lang="en-US" dirty="0">
                <a:solidFill>
                  <a:schemeClr val="tx1"/>
                </a:solidFill>
                <a:latin typeface="Times New Roman" panose="02020603050405020304" pitchFamily="18" charset="0"/>
                <a:cs typeface="Times New Roman" panose="02020603050405020304" pitchFamily="18" charset="0"/>
              </a:rPr>
              <a:t> a secure and user-friendly mobile-based voting system for KCA University students.</a:t>
            </a:r>
          </a:p>
          <a:p>
            <a:pPr marL="400050" indent="-400050">
              <a:buFont typeface="+mj-lt"/>
              <a:buAutoNum type="romanLcPeriod"/>
            </a:pPr>
            <a:r>
              <a:rPr lang="en-US" dirty="0">
                <a:solidFill>
                  <a:schemeClr val="tx1"/>
                </a:solidFill>
                <a:latin typeface="Times New Roman" panose="02020603050405020304" pitchFamily="18" charset="0"/>
                <a:cs typeface="Times New Roman" panose="02020603050405020304" pitchFamily="18" charset="0"/>
              </a:rPr>
              <a:t>To </a:t>
            </a:r>
            <a:r>
              <a:rPr lang="en-US" b="1" dirty="0">
                <a:solidFill>
                  <a:schemeClr val="tx1"/>
                </a:solidFill>
                <a:latin typeface="Times New Roman" panose="02020603050405020304" pitchFamily="18" charset="0"/>
                <a:cs typeface="Times New Roman" panose="02020603050405020304" pitchFamily="18" charset="0"/>
              </a:rPr>
              <a:t>construct</a:t>
            </a:r>
            <a:r>
              <a:rPr lang="en-US" dirty="0">
                <a:solidFill>
                  <a:schemeClr val="tx1"/>
                </a:solidFill>
                <a:latin typeface="Times New Roman" panose="02020603050405020304" pitchFamily="18" charset="0"/>
                <a:cs typeface="Times New Roman" panose="02020603050405020304" pitchFamily="18" charset="0"/>
              </a:rPr>
              <a:t> the system using </a:t>
            </a:r>
            <a:r>
              <a:rPr lang="en-US" b="1" dirty="0">
                <a:solidFill>
                  <a:schemeClr val="tx1"/>
                </a:solidFill>
                <a:latin typeface="Times New Roman" panose="02020603050405020304" pitchFamily="18" charset="0"/>
                <a:cs typeface="Times New Roman" panose="02020603050405020304" pitchFamily="18" charset="0"/>
              </a:rPr>
              <a:t>Firebase Authentication</a:t>
            </a:r>
            <a:r>
              <a:rPr lang="en-US" dirty="0">
                <a:solidFill>
                  <a:schemeClr val="tx1"/>
                </a:solidFill>
                <a:latin typeface="Times New Roman" panose="02020603050405020304" pitchFamily="18" charset="0"/>
                <a:cs typeface="Times New Roman" panose="02020603050405020304" pitchFamily="18" charset="0"/>
              </a:rPr>
              <a:t> and </a:t>
            </a:r>
            <a:r>
              <a:rPr lang="en-US" b="1" dirty="0" err="1">
                <a:solidFill>
                  <a:schemeClr val="tx1"/>
                </a:solidFill>
                <a:latin typeface="Times New Roman" panose="02020603050405020304" pitchFamily="18" charset="0"/>
                <a:cs typeface="Times New Roman" panose="02020603050405020304" pitchFamily="18" charset="0"/>
              </a:rPr>
              <a:t>Firestore</a:t>
            </a:r>
            <a:r>
              <a:rPr lang="en-US" b="1" dirty="0">
                <a:solidFill>
                  <a:schemeClr val="tx1"/>
                </a:solidFill>
                <a:latin typeface="Times New Roman" panose="02020603050405020304" pitchFamily="18" charset="0"/>
                <a:cs typeface="Times New Roman" panose="02020603050405020304" pitchFamily="18" charset="0"/>
              </a:rPr>
              <a:t> Database</a:t>
            </a:r>
            <a:r>
              <a:rPr lang="en-US" dirty="0">
                <a:solidFill>
                  <a:schemeClr val="tx1"/>
                </a:solidFill>
                <a:latin typeface="Times New Roman" panose="02020603050405020304" pitchFamily="18" charset="0"/>
                <a:cs typeface="Times New Roman" panose="02020603050405020304" pitchFamily="18" charset="0"/>
              </a:rPr>
              <a:t> for real-time operations.</a:t>
            </a:r>
          </a:p>
          <a:p>
            <a:pPr marL="400050" indent="-400050">
              <a:buFont typeface="+mj-lt"/>
              <a:buAutoNum type="romanLcPeriod"/>
            </a:pPr>
            <a:r>
              <a:rPr lang="en-US" dirty="0">
                <a:solidFill>
                  <a:schemeClr val="tx1"/>
                </a:solidFill>
                <a:latin typeface="Times New Roman" panose="02020603050405020304" pitchFamily="18" charset="0"/>
                <a:cs typeface="Times New Roman" panose="02020603050405020304" pitchFamily="18" charset="0"/>
              </a:rPr>
              <a:t>To </a:t>
            </a:r>
            <a:r>
              <a:rPr lang="en-US" b="1" dirty="0">
                <a:solidFill>
                  <a:schemeClr val="tx1"/>
                </a:solidFill>
                <a:latin typeface="Times New Roman" panose="02020603050405020304" pitchFamily="18" charset="0"/>
                <a:cs typeface="Times New Roman" panose="02020603050405020304" pitchFamily="18" charset="0"/>
              </a:rPr>
              <a:t>test and validate</a:t>
            </a:r>
            <a:r>
              <a:rPr lang="en-US" dirty="0">
                <a:solidFill>
                  <a:schemeClr val="tx1"/>
                </a:solidFill>
                <a:latin typeface="Times New Roman" panose="02020603050405020304" pitchFamily="18" charset="0"/>
                <a:cs typeface="Times New Roman" panose="02020603050405020304" pitchFamily="18" charset="0"/>
              </a:rPr>
              <a:t> the system to ensure accuracy, security, and ease of use.</a:t>
            </a:r>
          </a:p>
          <a:p>
            <a:pPr marL="400050" indent="-400050">
              <a:buFont typeface="+mj-lt"/>
              <a:buAutoNum type="romanLcPeriod"/>
            </a:pPr>
            <a:r>
              <a:rPr lang="en-US" dirty="0">
                <a:solidFill>
                  <a:schemeClr val="tx1"/>
                </a:solidFill>
                <a:latin typeface="Times New Roman" panose="02020603050405020304" pitchFamily="18" charset="0"/>
                <a:cs typeface="Times New Roman" panose="02020603050405020304" pitchFamily="18" charset="0"/>
              </a:rPr>
              <a:t>To </a:t>
            </a:r>
            <a:r>
              <a:rPr lang="en-US" b="1" dirty="0">
                <a:solidFill>
                  <a:schemeClr val="tx1"/>
                </a:solidFill>
                <a:latin typeface="Times New Roman" panose="02020603050405020304" pitchFamily="18" charset="0"/>
                <a:cs typeface="Times New Roman" panose="02020603050405020304" pitchFamily="18" charset="0"/>
              </a:rPr>
              <a:t>deploy</a:t>
            </a:r>
            <a:r>
              <a:rPr lang="en-US" dirty="0">
                <a:solidFill>
                  <a:schemeClr val="tx1"/>
                </a:solidFill>
                <a:latin typeface="Times New Roman" panose="02020603050405020304" pitchFamily="18" charset="0"/>
                <a:cs typeface="Times New Roman" panose="02020603050405020304" pitchFamily="18" charset="0"/>
              </a:rPr>
              <a:t> the system for use during KCA University elections and gather feedback for improvement</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058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01DE7-A50B-8AD3-603B-B7BDAF564DB4}"/>
              </a:ext>
            </a:extLst>
          </p:cNvPr>
          <p:cNvSpPr>
            <a:spLocks noGrp="1"/>
          </p:cNvSpPr>
          <p:nvPr>
            <p:ph type="title"/>
          </p:nvPr>
        </p:nvSpPr>
        <p:spPr>
          <a:xfrm>
            <a:off x="677334" y="609600"/>
            <a:ext cx="8596668" cy="623455"/>
          </a:xfrm>
        </p:spPr>
        <p:txBody>
          <a:bodyPr>
            <a:normAutofit fontScale="90000"/>
          </a:bodyPr>
          <a:lstStyle/>
          <a:p>
            <a:r>
              <a:rPr lang="en-US" dirty="0"/>
              <a:t>Scope of the Study</a:t>
            </a:r>
          </a:p>
        </p:txBody>
      </p:sp>
      <p:sp>
        <p:nvSpPr>
          <p:cNvPr id="3" name="Content Placeholder 2">
            <a:extLst>
              <a:ext uri="{FF2B5EF4-FFF2-40B4-BE49-F238E27FC236}">
                <a16:creationId xmlns:a16="http://schemas.microsoft.com/office/drawing/2014/main" id="{08853D4A-7455-343F-7EE6-B3EA8A0D0110}"/>
              </a:ext>
            </a:extLst>
          </p:cNvPr>
          <p:cNvSpPr>
            <a:spLocks noGrp="1"/>
          </p:cNvSpPr>
          <p:nvPr>
            <p:ph idx="1"/>
          </p:nvPr>
        </p:nvSpPr>
        <p:spPr>
          <a:xfrm>
            <a:off x="677334" y="1233055"/>
            <a:ext cx="8596668" cy="4808307"/>
          </a:xfrm>
        </p:spPr>
        <p:txBody>
          <a:bodyPr/>
          <a:lstStyle/>
          <a:p>
            <a:r>
              <a:rPr lang="en-US" dirty="0">
                <a:solidFill>
                  <a:schemeClr val="tx1"/>
                </a:solidFill>
                <a:latin typeface="Times New Roman" panose="02020603050405020304" pitchFamily="18" charset="0"/>
                <a:cs typeface="Times New Roman" panose="02020603050405020304" pitchFamily="18" charset="0"/>
              </a:rPr>
              <a:t>The system will focus on </a:t>
            </a:r>
            <a:r>
              <a:rPr lang="en-US" b="1" dirty="0">
                <a:solidFill>
                  <a:schemeClr val="tx1"/>
                </a:solidFill>
                <a:latin typeface="Times New Roman" panose="02020603050405020304" pitchFamily="18" charset="0"/>
                <a:cs typeface="Times New Roman" panose="02020603050405020304" pitchFamily="18" charset="0"/>
              </a:rPr>
              <a:t>automating the voting process</a:t>
            </a:r>
            <a:r>
              <a:rPr lang="en-US" dirty="0">
                <a:solidFill>
                  <a:schemeClr val="tx1"/>
                </a:solidFill>
                <a:latin typeface="Times New Roman" panose="02020603050405020304" pitchFamily="18" charset="0"/>
                <a:cs typeface="Times New Roman" panose="02020603050405020304" pitchFamily="18" charset="0"/>
              </a:rPr>
              <a:t> for KCA University student elections.</a:t>
            </a:r>
          </a:p>
          <a:p>
            <a:r>
              <a:rPr lang="en-US" dirty="0">
                <a:solidFill>
                  <a:schemeClr val="tx1"/>
                </a:solidFill>
                <a:latin typeface="Times New Roman" panose="02020603050405020304" pitchFamily="18" charset="0"/>
                <a:cs typeface="Times New Roman" panose="02020603050405020304" pitchFamily="18" charset="0"/>
              </a:rPr>
              <a:t>It will be limited to </a:t>
            </a:r>
            <a:r>
              <a:rPr lang="en-US" b="1" dirty="0">
                <a:solidFill>
                  <a:schemeClr val="tx1"/>
                </a:solidFill>
                <a:latin typeface="Times New Roman" panose="02020603050405020304" pitchFamily="18" charset="0"/>
                <a:cs typeface="Times New Roman" panose="02020603050405020304" pitchFamily="18" charset="0"/>
              </a:rPr>
              <a:t>registered KCA University students</a:t>
            </a:r>
            <a:r>
              <a:rPr lang="en-US" dirty="0">
                <a:solidFill>
                  <a:schemeClr val="tx1"/>
                </a:solidFill>
                <a:latin typeface="Times New Roman" panose="02020603050405020304" pitchFamily="18" charset="0"/>
                <a:cs typeface="Times New Roman" panose="02020603050405020304" pitchFamily="18" charset="0"/>
              </a:rPr>
              <a:t> who are eligible to vote.</a:t>
            </a:r>
          </a:p>
          <a:p>
            <a:r>
              <a:rPr lang="en-US" dirty="0">
                <a:solidFill>
                  <a:schemeClr val="tx1"/>
                </a:solidFill>
                <a:latin typeface="Times New Roman" panose="02020603050405020304" pitchFamily="18" charset="0"/>
                <a:cs typeface="Times New Roman" panose="02020603050405020304" pitchFamily="18" charset="0"/>
              </a:rPr>
              <a:t>The system will include modules for </a:t>
            </a:r>
            <a:r>
              <a:rPr lang="en-US" b="1" dirty="0">
                <a:solidFill>
                  <a:schemeClr val="tx1"/>
                </a:solidFill>
                <a:latin typeface="Times New Roman" panose="02020603050405020304" pitchFamily="18" charset="0"/>
                <a:cs typeface="Times New Roman" panose="02020603050405020304" pitchFamily="18" charset="0"/>
              </a:rPr>
              <a:t>authentication, candidate management, voting, and results display</a:t>
            </a:r>
            <a:r>
              <a:rPr lang="en-US" dirty="0">
                <a:solidFill>
                  <a:schemeClr val="tx1"/>
                </a:solidFill>
                <a:latin typeface="Times New Roman" panose="02020603050405020304" pitchFamily="18" charset="0"/>
                <a:cs typeface="Times New Roman" panose="02020603050405020304" pitchFamily="18" charset="0"/>
              </a:rPr>
              <a:t>.</a:t>
            </a:r>
          </a:p>
          <a:p>
            <a:r>
              <a:rPr lang="en-US" dirty="0">
                <a:solidFill>
                  <a:schemeClr val="tx1"/>
                </a:solidFill>
                <a:latin typeface="Times New Roman" panose="02020603050405020304" pitchFamily="18" charset="0"/>
                <a:cs typeface="Times New Roman" panose="02020603050405020304" pitchFamily="18" charset="0"/>
              </a:rPr>
              <a:t>It will be accessible primarily through </a:t>
            </a:r>
            <a:r>
              <a:rPr lang="en-US" b="1" dirty="0">
                <a:solidFill>
                  <a:schemeClr val="tx1"/>
                </a:solidFill>
                <a:latin typeface="Times New Roman" panose="02020603050405020304" pitchFamily="18" charset="0"/>
                <a:cs typeface="Times New Roman" panose="02020603050405020304" pitchFamily="18" charset="0"/>
              </a:rPr>
              <a:t>Android mobile devices</a:t>
            </a:r>
            <a:r>
              <a:rPr lang="en-US" dirty="0">
                <a:solidFill>
                  <a:schemeClr val="tx1"/>
                </a:solidFill>
                <a:latin typeface="Times New Roman" panose="02020603050405020304" pitchFamily="18" charset="0"/>
                <a:cs typeface="Times New Roman" panose="02020603050405020304" pitchFamily="18" charset="0"/>
              </a:rPr>
              <a:t>, with potential web integration in the future.</a:t>
            </a:r>
          </a:p>
          <a:p>
            <a:r>
              <a:rPr lang="en-US" dirty="0">
                <a:solidFill>
                  <a:schemeClr val="tx1"/>
                </a:solidFill>
                <a:latin typeface="Times New Roman" panose="02020603050405020304" pitchFamily="18" charset="0"/>
                <a:cs typeface="Times New Roman" panose="02020603050405020304" pitchFamily="18" charset="0"/>
              </a:rPr>
              <a:t>The system will not cover </a:t>
            </a:r>
            <a:r>
              <a:rPr lang="en-US" b="1" dirty="0">
                <a:solidFill>
                  <a:schemeClr val="tx1"/>
                </a:solidFill>
                <a:latin typeface="Times New Roman" panose="02020603050405020304" pitchFamily="18" charset="0"/>
                <a:cs typeface="Times New Roman" panose="02020603050405020304" pitchFamily="18" charset="0"/>
              </a:rPr>
              <a:t>offline voting</a:t>
            </a:r>
            <a:r>
              <a:rPr lang="en-US" dirty="0">
                <a:solidFill>
                  <a:schemeClr val="tx1"/>
                </a:solidFill>
                <a:latin typeface="Times New Roman" panose="02020603050405020304" pitchFamily="18" charset="0"/>
                <a:cs typeface="Times New Roman" panose="02020603050405020304" pitchFamily="18" charset="0"/>
              </a:rPr>
              <a:t>, </a:t>
            </a:r>
            <a:r>
              <a:rPr lang="en-US" b="1" dirty="0">
                <a:solidFill>
                  <a:schemeClr val="tx1"/>
                </a:solidFill>
                <a:latin typeface="Times New Roman" panose="02020603050405020304" pitchFamily="18" charset="0"/>
                <a:cs typeface="Times New Roman" panose="02020603050405020304" pitchFamily="18" charset="0"/>
              </a:rPr>
              <a:t>external network integration</a:t>
            </a:r>
            <a:r>
              <a:rPr lang="en-US" dirty="0">
                <a:solidFill>
                  <a:schemeClr val="tx1"/>
                </a:solidFill>
                <a:latin typeface="Times New Roman" panose="02020603050405020304" pitchFamily="18" charset="0"/>
                <a:cs typeface="Times New Roman" panose="02020603050405020304" pitchFamily="18" charset="0"/>
              </a:rPr>
              <a:t>, or </a:t>
            </a:r>
            <a:r>
              <a:rPr lang="en-US" b="1" dirty="0">
                <a:solidFill>
                  <a:schemeClr val="tx1"/>
                </a:solidFill>
                <a:latin typeface="Times New Roman" panose="02020603050405020304" pitchFamily="18" charset="0"/>
                <a:cs typeface="Times New Roman" panose="02020603050405020304" pitchFamily="18" charset="0"/>
              </a:rPr>
              <a:t>non-student elections</a:t>
            </a:r>
            <a:r>
              <a:rPr lang="en-US" dirty="0">
                <a:solidFill>
                  <a:schemeClr val="tx1"/>
                </a:solidFill>
                <a:latin typeface="Times New Roman" panose="02020603050405020304" pitchFamily="18" charset="0"/>
                <a:cs typeface="Times New Roman" panose="02020603050405020304" pitchFamily="18" charset="0"/>
              </a:rPr>
              <a:t>.</a:t>
            </a:r>
          </a:p>
          <a:p>
            <a:r>
              <a:rPr lang="en-US" dirty="0">
                <a:solidFill>
                  <a:schemeClr val="tx1"/>
                </a:solidFill>
                <a:latin typeface="Times New Roman" panose="02020603050405020304" pitchFamily="18" charset="0"/>
                <a:cs typeface="Times New Roman" panose="02020603050405020304" pitchFamily="18" charset="0"/>
              </a:rPr>
              <a:t>Testing and deployment will be done </a:t>
            </a:r>
            <a:r>
              <a:rPr lang="en-US" b="1" dirty="0">
                <a:solidFill>
                  <a:schemeClr val="tx1"/>
                </a:solidFill>
                <a:latin typeface="Times New Roman" panose="02020603050405020304" pitchFamily="18" charset="0"/>
                <a:cs typeface="Times New Roman" panose="02020603050405020304" pitchFamily="18" charset="0"/>
              </a:rPr>
              <a:t>within the KCA University network environment</a:t>
            </a:r>
            <a:r>
              <a:rPr lang="en-US" dirty="0">
                <a:solidFill>
                  <a:schemeClr val="tx1"/>
                </a:solidFill>
                <a:latin typeface="Times New Roman" panose="02020603050405020304" pitchFamily="18" charset="0"/>
                <a:cs typeface="Times New Roman" panose="02020603050405020304" pitchFamily="18" charset="0"/>
              </a:rPr>
              <a:t> under the supervision of IECK officials.</a:t>
            </a:r>
          </a:p>
        </p:txBody>
      </p:sp>
    </p:spTree>
    <p:extLst>
      <p:ext uri="{BB962C8B-B14F-4D97-AF65-F5344CB8AC3E}">
        <p14:creationId xmlns:p14="http://schemas.microsoft.com/office/powerpoint/2010/main" val="54038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DBE6F-8822-D0FF-7116-E5B56AA42993}"/>
              </a:ext>
            </a:extLst>
          </p:cNvPr>
          <p:cNvSpPr>
            <a:spLocks noGrp="1"/>
          </p:cNvSpPr>
          <p:nvPr>
            <p:ph type="title"/>
          </p:nvPr>
        </p:nvSpPr>
        <p:spPr>
          <a:xfrm>
            <a:off x="677334" y="609600"/>
            <a:ext cx="8596668" cy="762000"/>
          </a:xfrm>
        </p:spPr>
        <p:txBody>
          <a:bodyPr/>
          <a:lstStyle/>
          <a:p>
            <a:r>
              <a:rPr lang="en-US" dirty="0"/>
              <a:t>Significance of the Study</a:t>
            </a:r>
          </a:p>
        </p:txBody>
      </p:sp>
      <p:sp>
        <p:nvSpPr>
          <p:cNvPr id="3" name="Content Placeholder 2">
            <a:extLst>
              <a:ext uri="{FF2B5EF4-FFF2-40B4-BE49-F238E27FC236}">
                <a16:creationId xmlns:a16="http://schemas.microsoft.com/office/drawing/2014/main" id="{3787FCE8-3FEA-A24B-B648-1D417EC6F414}"/>
              </a:ext>
            </a:extLst>
          </p:cNvPr>
          <p:cNvSpPr>
            <a:spLocks noGrp="1"/>
          </p:cNvSpPr>
          <p:nvPr>
            <p:ph idx="1"/>
          </p:nvPr>
        </p:nvSpPr>
        <p:spPr>
          <a:xfrm>
            <a:off x="677334" y="1371601"/>
            <a:ext cx="8596668" cy="4669762"/>
          </a:xfrm>
        </p:spPr>
        <p:txBody>
          <a:bodyPr/>
          <a:lstStyle/>
          <a:p>
            <a:r>
              <a:rPr lang="en-US" dirty="0">
                <a:solidFill>
                  <a:schemeClr val="tx1"/>
                </a:solidFill>
                <a:latin typeface="Times New Roman" panose="02020603050405020304" pitchFamily="18" charset="0"/>
                <a:cs typeface="Times New Roman" panose="02020603050405020304" pitchFamily="18" charset="0"/>
              </a:rPr>
              <a:t>The project will provide a </a:t>
            </a:r>
            <a:r>
              <a:rPr lang="en-US" b="1" dirty="0">
                <a:solidFill>
                  <a:schemeClr val="tx1"/>
                </a:solidFill>
                <a:latin typeface="Times New Roman" panose="02020603050405020304" pitchFamily="18" charset="0"/>
                <a:cs typeface="Times New Roman" panose="02020603050405020304" pitchFamily="18" charset="0"/>
              </a:rPr>
              <a:t>modern, reliable, and transparent platform</a:t>
            </a:r>
            <a:r>
              <a:rPr lang="en-US" dirty="0">
                <a:solidFill>
                  <a:schemeClr val="tx1"/>
                </a:solidFill>
                <a:latin typeface="Times New Roman" panose="02020603050405020304" pitchFamily="18" charset="0"/>
                <a:cs typeface="Times New Roman" panose="02020603050405020304" pitchFamily="18" charset="0"/>
              </a:rPr>
              <a:t> for conducting student elections at KCA University.</a:t>
            </a:r>
          </a:p>
          <a:p>
            <a:r>
              <a:rPr lang="en-US" dirty="0">
                <a:solidFill>
                  <a:schemeClr val="tx1"/>
                </a:solidFill>
                <a:latin typeface="Times New Roman" panose="02020603050405020304" pitchFamily="18" charset="0"/>
                <a:cs typeface="Times New Roman" panose="02020603050405020304" pitchFamily="18" charset="0"/>
              </a:rPr>
              <a:t>The project will provide a </a:t>
            </a:r>
            <a:r>
              <a:rPr lang="en-US" b="1" dirty="0">
                <a:solidFill>
                  <a:schemeClr val="tx1"/>
                </a:solidFill>
                <a:latin typeface="Times New Roman" panose="02020603050405020304" pitchFamily="18" charset="0"/>
                <a:cs typeface="Times New Roman" panose="02020603050405020304" pitchFamily="18" charset="0"/>
              </a:rPr>
              <a:t>modern, reliable, and transparent platform</a:t>
            </a:r>
            <a:r>
              <a:rPr lang="en-US" dirty="0">
                <a:solidFill>
                  <a:schemeClr val="tx1"/>
                </a:solidFill>
                <a:latin typeface="Times New Roman" panose="02020603050405020304" pitchFamily="18" charset="0"/>
                <a:cs typeface="Times New Roman" panose="02020603050405020304" pitchFamily="18" charset="0"/>
              </a:rPr>
              <a:t> for conducting student elections at KCA University.</a:t>
            </a:r>
          </a:p>
          <a:p>
            <a:r>
              <a:rPr lang="en-US" b="1" dirty="0">
                <a:solidFill>
                  <a:schemeClr val="tx1"/>
                </a:solidFill>
                <a:latin typeface="Times New Roman" panose="02020603050405020304" pitchFamily="18" charset="0"/>
                <a:cs typeface="Times New Roman" panose="02020603050405020304" pitchFamily="18" charset="0"/>
              </a:rPr>
              <a:t>IECK officials</a:t>
            </a:r>
            <a:r>
              <a:rPr lang="en-US" dirty="0">
                <a:solidFill>
                  <a:schemeClr val="tx1"/>
                </a:solidFill>
                <a:latin typeface="Times New Roman" panose="02020603050405020304" pitchFamily="18" charset="0"/>
                <a:cs typeface="Times New Roman" panose="02020603050405020304" pitchFamily="18" charset="0"/>
              </a:rPr>
              <a:t> will experience simplified election management and faster result processing.</a:t>
            </a:r>
          </a:p>
          <a:p>
            <a:r>
              <a:rPr lang="en-US" b="1" dirty="0">
                <a:solidFill>
                  <a:schemeClr val="tx1"/>
                </a:solidFill>
                <a:latin typeface="Times New Roman" panose="02020603050405020304" pitchFamily="18" charset="0"/>
                <a:cs typeface="Times New Roman" panose="02020603050405020304" pitchFamily="18" charset="0"/>
              </a:rPr>
              <a:t>The university administration</a:t>
            </a:r>
            <a:r>
              <a:rPr lang="en-US" dirty="0">
                <a:solidFill>
                  <a:schemeClr val="tx1"/>
                </a:solidFill>
                <a:latin typeface="Times New Roman" panose="02020603050405020304" pitchFamily="18" charset="0"/>
                <a:cs typeface="Times New Roman" panose="02020603050405020304" pitchFamily="18" charset="0"/>
              </a:rPr>
              <a:t> will benefit from improved efficiency, reduced disruption of academic activities, and increased voter turnout.</a:t>
            </a:r>
          </a:p>
          <a:p>
            <a:r>
              <a:rPr lang="en-US" dirty="0">
                <a:solidFill>
                  <a:schemeClr val="tx1"/>
                </a:solidFill>
                <a:latin typeface="Times New Roman" panose="02020603050405020304" pitchFamily="18" charset="0"/>
                <a:cs typeface="Times New Roman" panose="02020603050405020304" pitchFamily="18" charset="0"/>
              </a:rPr>
              <a:t>The project contributes to the </a:t>
            </a:r>
            <a:r>
              <a:rPr lang="en-US" b="1" dirty="0">
                <a:solidFill>
                  <a:schemeClr val="tx1"/>
                </a:solidFill>
                <a:latin typeface="Times New Roman" panose="02020603050405020304" pitchFamily="18" charset="0"/>
                <a:cs typeface="Times New Roman" panose="02020603050405020304" pitchFamily="18" charset="0"/>
              </a:rPr>
              <a:t>digital transformation</a:t>
            </a:r>
            <a:r>
              <a:rPr lang="en-US" dirty="0">
                <a:solidFill>
                  <a:schemeClr val="tx1"/>
                </a:solidFill>
                <a:latin typeface="Times New Roman" panose="02020603050405020304" pitchFamily="18" charset="0"/>
                <a:cs typeface="Times New Roman" panose="02020603050405020304" pitchFamily="18" charset="0"/>
              </a:rPr>
              <a:t> of university operations and promotes </a:t>
            </a:r>
            <a:r>
              <a:rPr lang="en-US" b="1" dirty="0">
                <a:solidFill>
                  <a:schemeClr val="tx1"/>
                </a:solidFill>
                <a:latin typeface="Times New Roman" panose="02020603050405020304" pitchFamily="18" charset="0"/>
                <a:cs typeface="Times New Roman" panose="02020603050405020304" pitchFamily="18" charset="0"/>
              </a:rPr>
              <a:t>good governance</a:t>
            </a:r>
            <a:r>
              <a:rPr lang="en-US" dirty="0">
                <a:solidFill>
                  <a:schemeClr val="tx1"/>
                </a:solidFill>
                <a:latin typeface="Times New Roman" panose="02020603050405020304" pitchFamily="18" charset="0"/>
                <a:cs typeface="Times New Roman" panose="02020603050405020304" pitchFamily="18" charset="0"/>
              </a:rPr>
              <a:t> within student leadership.</a:t>
            </a:r>
          </a:p>
          <a:p>
            <a:r>
              <a:rPr lang="en-US" dirty="0">
                <a:solidFill>
                  <a:schemeClr val="tx1"/>
                </a:solidFill>
                <a:latin typeface="Times New Roman" panose="02020603050405020304" pitchFamily="18" charset="0"/>
                <a:cs typeface="Times New Roman" panose="02020603050405020304" pitchFamily="18" charset="0"/>
              </a:rPr>
              <a:t>The system can serve as a </a:t>
            </a:r>
            <a:r>
              <a:rPr lang="en-US" b="1" dirty="0">
                <a:solidFill>
                  <a:schemeClr val="tx1"/>
                </a:solidFill>
                <a:latin typeface="Times New Roman" panose="02020603050405020304" pitchFamily="18" charset="0"/>
                <a:cs typeface="Times New Roman" panose="02020603050405020304" pitchFamily="18" charset="0"/>
              </a:rPr>
              <a:t>reference model</a:t>
            </a:r>
            <a:r>
              <a:rPr lang="en-US" dirty="0">
                <a:solidFill>
                  <a:schemeClr val="tx1"/>
                </a:solidFill>
                <a:latin typeface="Times New Roman" panose="02020603050405020304" pitchFamily="18" charset="0"/>
                <a:cs typeface="Times New Roman" panose="02020603050405020304" pitchFamily="18" charset="0"/>
              </a:rPr>
              <a:t> for other institutions seeking to implement similar online voting solutions.</a:t>
            </a:r>
          </a:p>
        </p:txBody>
      </p:sp>
    </p:spTree>
    <p:extLst>
      <p:ext uri="{BB962C8B-B14F-4D97-AF65-F5344CB8AC3E}">
        <p14:creationId xmlns:p14="http://schemas.microsoft.com/office/powerpoint/2010/main" val="675928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32D8C-4011-EB64-B005-3C966E8239EE}"/>
              </a:ext>
            </a:extLst>
          </p:cNvPr>
          <p:cNvSpPr>
            <a:spLocks noGrp="1"/>
          </p:cNvSpPr>
          <p:nvPr>
            <p:ph type="title"/>
          </p:nvPr>
        </p:nvSpPr>
        <p:spPr>
          <a:xfrm>
            <a:off x="677334" y="609600"/>
            <a:ext cx="8596668" cy="692727"/>
          </a:xfrm>
        </p:spPr>
        <p:txBody>
          <a:bodyPr/>
          <a:lstStyle/>
          <a:p>
            <a:r>
              <a:rPr lang="en-US" dirty="0"/>
              <a:t>Literature Review</a:t>
            </a:r>
          </a:p>
        </p:txBody>
      </p:sp>
      <p:sp>
        <p:nvSpPr>
          <p:cNvPr id="3" name="Content Placeholder 2">
            <a:extLst>
              <a:ext uri="{FF2B5EF4-FFF2-40B4-BE49-F238E27FC236}">
                <a16:creationId xmlns:a16="http://schemas.microsoft.com/office/drawing/2014/main" id="{21B8BD0D-2CF5-70E9-948D-2C6C5BDBBE78}"/>
              </a:ext>
            </a:extLst>
          </p:cNvPr>
          <p:cNvSpPr>
            <a:spLocks noGrp="1"/>
          </p:cNvSpPr>
          <p:nvPr>
            <p:ph idx="1"/>
          </p:nvPr>
        </p:nvSpPr>
        <p:spPr>
          <a:xfrm>
            <a:off x="677334" y="1302327"/>
            <a:ext cx="8596668" cy="5555673"/>
          </a:xfrm>
        </p:spPr>
        <p:txBody>
          <a:bodyPr/>
          <a:lstStyle/>
          <a:p>
            <a:r>
              <a:rPr lang="en-US" dirty="0">
                <a:solidFill>
                  <a:schemeClr val="tx1"/>
                </a:solidFill>
                <a:latin typeface="Times New Roman" panose="02020603050405020304" pitchFamily="18" charset="0"/>
                <a:cs typeface="Times New Roman" panose="02020603050405020304" pitchFamily="18" charset="0"/>
              </a:rPr>
              <a:t>Previous studies and university projects have implemented various forms of online voting systems to improve efficiency and transparency in student elections. This section reviews similar systems adopted by other Kenyan universities to identify design strategies, technologies, and challenges relevant to developing the proposed KCA University Online Voting System.</a:t>
            </a:r>
          </a:p>
          <a:p>
            <a:r>
              <a:rPr lang="en-US" b="1" dirty="0" err="1">
                <a:solidFill>
                  <a:schemeClr val="tx1"/>
                </a:solidFill>
                <a:latin typeface="Times New Roman" panose="02020603050405020304" pitchFamily="18" charset="0"/>
                <a:cs typeface="Times New Roman" panose="02020603050405020304" pitchFamily="18" charset="0"/>
              </a:rPr>
              <a:t>Kabarak</a:t>
            </a:r>
            <a:r>
              <a:rPr lang="en-US" b="1" dirty="0">
                <a:solidFill>
                  <a:schemeClr val="tx1"/>
                </a:solidFill>
                <a:latin typeface="Times New Roman" panose="02020603050405020304" pitchFamily="18" charset="0"/>
                <a:cs typeface="Times New Roman" panose="02020603050405020304" pitchFamily="18" charset="0"/>
              </a:rPr>
              <a:t> University Online Voting System</a:t>
            </a: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A </a:t>
            </a:r>
            <a:r>
              <a:rPr lang="en-US" b="1" dirty="0">
                <a:solidFill>
                  <a:schemeClr val="tx1"/>
                </a:solidFill>
                <a:latin typeface="Times New Roman" panose="02020603050405020304" pitchFamily="18" charset="0"/>
                <a:cs typeface="Times New Roman" panose="02020603050405020304" pitchFamily="18" charset="0"/>
              </a:rPr>
              <a:t>web-based platform</a:t>
            </a:r>
            <a:r>
              <a:rPr lang="en-US" dirty="0">
                <a:solidFill>
                  <a:schemeClr val="tx1"/>
                </a:solidFill>
                <a:latin typeface="Times New Roman" panose="02020603050405020304" pitchFamily="18" charset="0"/>
                <a:cs typeface="Times New Roman" panose="02020603050405020304" pitchFamily="18" charset="0"/>
              </a:rPr>
              <a:t> allowing students to vote using personal credentials.</a:t>
            </a: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Uses </a:t>
            </a:r>
            <a:r>
              <a:rPr lang="en-US" b="1" dirty="0">
                <a:solidFill>
                  <a:schemeClr val="tx1"/>
                </a:solidFill>
                <a:latin typeface="Times New Roman" panose="02020603050405020304" pitchFamily="18" charset="0"/>
                <a:cs typeface="Times New Roman" panose="02020603050405020304" pitchFamily="18" charset="0"/>
              </a:rPr>
              <a:t>secure authentication</a:t>
            </a:r>
            <a:r>
              <a:rPr lang="en-US" dirty="0">
                <a:solidFill>
                  <a:schemeClr val="tx1"/>
                </a:solidFill>
                <a:latin typeface="Times New Roman" panose="02020603050405020304" pitchFamily="18" charset="0"/>
                <a:cs typeface="Times New Roman" panose="02020603050405020304" pitchFamily="18" charset="0"/>
              </a:rPr>
              <a:t> and displays results immediately after elections.</a:t>
            </a: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Demonstrates feasibility of </a:t>
            </a:r>
            <a:r>
              <a:rPr lang="en-US" b="1" dirty="0">
                <a:solidFill>
                  <a:schemeClr val="tx1"/>
                </a:solidFill>
                <a:latin typeface="Times New Roman" panose="02020603050405020304" pitchFamily="18" charset="0"/>
                <a:cs typeface="Times New Roman" panose="02020603050405020304" pitchFamily="18" charset="0"/>
              </a:rPr>
              <a:t>online student elections</a:t>
            </a:r>
            <a:r>
              <a:rPr lang="en-US" dirty="0">
                <a:solidFill>
                  <a:schemeClr val="tx1"/>
                </a:solidFill>
                <a:latin typeface="Times New Roman" panose="02020603050405020304" pitchFamily="18" charset="0"/>
                <a:cs typeface="Times New Roman" panose="02020603050405020304" pitchFamily="18" charset="0"/>
              </a:rPr>
              <a:t> within Kenyan universities.</a:t>
            </a:r>
          </a:p>
          <a:p>
            <a:r>
              <a:rPr lang="en-US" b="1" dirty="0">
                <a:solidFill>
                  <a:schemeClr val="tx1"/>
                </a:solidFill>
                <a:latin typeface="Times New Roman" panose="02020603050405020304" pitchFamily="18" charset="0"/>
                <a:cs typeface="Times New Roman" panose="02020603050405020304" pitchFamily="18" charset="0"/>
              </a:rPr>
              <a:t>University of Nairobi (</a:t>
            </a:r>
            <a:r>
              <a:rPr lang="en-US" b="1" dirty="0" err="1">
                <a:solidFill>
                  <a:schemeClr val="tx1"/>
                </a:solidFill>
                <a:latin typeface="Times New Roman" panose="02020603050405020304" pitchFamily="18" charset="0"/>
                <a:cs typeface="Times New Roman" panose="02020603050405020304" pitchFamily="18" charset="0"/>
              </a:rPr>
              <a:t>UoN</a:t>
            </a:r>
            <a:r>
              <a:rPr lang="en-US" b="1" dirty="0">
                <a:solidFill>
                  <a:schemeClr val="tx1"/>
                </a:solidFill>
                <a:latin typeface="Times New Roman" panose="02020603050405020304" pitchFamily="18" charset="0"/>
                <a:cs typeface="Times New Roman" panose="02020603050405020304" pitchFamily="18" charset="0"/>
              </a:rPr>
              <a:t>) </a:t>
            </a:r>
            <a:r>
              <a:rPr lang="en-US" b="1" dirty="0" err="1">
                <a:solidFill>
                  <a:schemeClr val="tx1"/>
                </a:solidFill>
                <a:latin typeface="Times New Roman" panose="02020603050405020304" pitchFamily="18" charset="0"/>
                <a:cs typeface="Times New Roman" panose="02020603050405020304" pitchFamily="18" charset="0"/>
              </a:rPr>
              <a:t>eVoting</a:t>
            </a:r>
            <a:r>
              <a:rPr lang="en-US" b="1" dirty="0">
                <a:solidFill>
                  <a:schemeClr val="tx1"/>
                </a:solidFill>
                <a:latin typeface="Times New Roman" panose="02020603050405020304" pitchFamily="18" charset="0"/>
                <a:cs typeface="Times New Roman" panose="02020603050405020304" pitchFamily="18" charset="0"/>
              </a:rPr>
              <a:t> System</a:t>
            </a: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Developed as part of the university’s </a:t>
            </a:r>
            <a:r>
              <a:rPr lang="en-US" b="1" dirty="0">
                <a:solidFill>
                  <a:schemeClr val="tx1"/>
                </a:solidFill>
                <a:latin typeface="Times New Roman" panose="02020603050405020304" pitchFamily="18" charset="0"/>
                <a:cs typeface="Times New Roman" panose="02020603050405020304" pitchFamily="18" charset="0"/>
              </a:rPr>
              <a:t>digital governance initiative</a:t>
            </a:r>
            <a:r>
              <a:rPr lang="en-US" dirty="0">
                <a:solidFill>
                  <a:schemeClr val="tx1"/>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Integrated with the </a:t>
            </a:r>
            <a:r>
              <a:rPr lang="en-US" b="1" dirty="0" err="1">
                <a:solidFill>
                  <a:schemeClr val="tx1"/>
                </a:solidFill>
                <a:latin typeface="Times New Roman" panose="02020603050405020304" pitchFamily="18" charset="0"/>
                <a:cs typeface="Times New Roman" panose="02020603050405020304" pitchFamily="18" charset="0"/>
              </a:rPr>
              <a:t>UoN</a:t>
            </a:r>
            <a:r>
              <a:rPr lang="en-US" b="1" dirty="0">
                <a:solidFill>
                  <a:schemeClr val="tx1"/>
                </a:solidFill>
                <a:latin typeface="Times New Roman" panose="02020603050405020304" pitchFamily="18" charset="0"/>
                <a:cs typeface="Times New Roman" panose="02020603050405020304" pitchFamily="18" charset="0"/>
              </a:rPr>
              <a:t> student portal</a:t>
            </a:r>
            <a:r>
              <a:rPr lang="en-US" dirty="0">
                <a:solidFill>
                  <a:schemeClr val="tx1"/>
                </a:solidFill>
                <a:latin typeface="Times New Roman" panose="02020603050405020304" pitchFamily="18" charset="0"/>
                <a:cs typeface="Times New Roman" panose="02020603050405020304" pitchFamily="18" charset="0"/>
              </a:rPr>
              <a:t> for verification and results display.</a:t>
            </a: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Focused on </a:t>
            </a:r>
            <a:r>
              <a:rPr lang="en-US" b="1" dirty="0">
                <a:solidFill>
                  <a:schemeClr val="tx1"/>
                </a:solidFill>
                <a:latin typeface="Times New Roman" panose="02020603050405020304" pitchFamily="18" charset="0"/>
                <a:cs typeface="Times New Roman" panose="02020603050405020304" pitchFamily="18" charset="0"/>
              </a:rPr>
              <a:t>transparency and multi-role access control</a:t>
            </a:r>
            <a:r>
              <a:rPr lang="en-US" dirty="0">
                <a:solidFill>
                  <a:schemeClr val="tx1"/>
                </a:solidFill>
                <a:latin typeface="Times New Roman" panose="02020603050405020304" pitchFamily="18" charset="0"/>
                <a:cs typeface="Times New Roman" panose="02020603050405020304" pitchFamily="18" charset="0"/>
              </a:rPr>
              <a:t> for election officers.</a:t>
            </a:r>
          </a:p>
          <a:p>
            <a:pPr>
              <a:buFont typeface="Arial" panose="020B0604020202020204" pitchFamily="34" charset="0"/>
              <a:buChar char="•"/>
            </a:pPr>
            <a:endParaRPr lang="en-US" dirty="0">
              <a:solidFill>
                <a:schemeClr val="tx1"/>
              </a:solidFill>
            </a:endParaRPr>
          </a:p>
          <a:p>
            <a:pPr>
              <a:buFont typeface="Arial" panose="020B0604020202020204" pitchFamily="34" charset="0"/>
              <a:buChar char="•"/>
            </a:pPr>
            <a:endParaRPr lang="en-US" dirty="0">
              <a:solidFill>
                <a:schemeClr val="tx1"/>
              </a:solidFill>
            </a:endParaRPr>
          </a:p>
          <a:p>
            <a:endParaRPr lang="en-US" dirty="0">
              <a:solidFill>
                <a:schemeClr val="tx1"/>
              </a:solidFill>
            </a:endParaRPr>
          </a:p>
        </p:txBody>
      </p:sp>
    </p:spTree>
    <p:extLst>
      <p:ext uri="{BB962C8B-B14F-4D97-AF65-F5344CB8AC3E}">
        <p14:creationId xmlns:p14="http://schemas.microsoft.com/office/powerpoint/2010/main" val="4167244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F430F-EAA6-4A52-5BC6-0F0F0030C7EF}"/>
              </a:ext>
            </a:extLst>
          </p:cNvPr>
          <p:cNvSpPr>
            <a:spLocks noGrp="1"/>
          </p:cNvSpPr>
          <p:nvPr>
            <p:ph type="title"/>
          </p:nvPr>
        </p:nvSpPr>
        <p:spPr>
          <a:xfrm>
            <a:off x="580352" y="193964"/>
            <a:ext cx="8596668" cy="748145"/>
          </a:xfrm>
        </p:spPr>
        <p:txBody>
          <a:bodyPr/>
          <a:lstStyle/>
          <a:p>
            <a:r>
              <a:rPr lang="en-US" dirty="0"/>
              <a:t>continuation</a:t>
            </a:r>
          </a:p>
        </p:txBody>
      </p:sp>
      <p:sp>
        <p:nvSpPr>
          <p:cNvPr id="3" name="Content Placeholder 2">
            <a:extLst>
              <a:ext uri="{FF2B5EF4-FFF2-40B4-BE49-F238E27FC236}">
                <a16:creationId xmlns:a16="http://schemas.microsoft.com/office/drawing/2014/main" id="{BDC7D87B-3065-9DA4-1730-DE86EC370A13}"/>
              </a:ext>
            </a:extLst>
          </p:cNvPr>
          <p:cNvSpPr>
            <a:spLocks noGrp="1"/>
          </p:cNvSpPr>
          <p:nvPr>
            <p:ph idx="1"/>
          </p:nvPr>
        </p:nvSpPr>
        <p:spPr>
          <a:xfrm>
            <a:off x="677334" y="942109"/>
            <a:ext cx="8596668" cy="6012873"/>
          </a:xfrm>
        </p:spPr>
        <p:txBody>
          <a:bodyPr>
            <a:normAutofit/>
          </a:bodyPr>
          <a:lstStyle/>
          <a:p>
            <a:r>
              <a:rPr lang="en-US" b="1" dirty="0">
                <a:solidFill>
                  <a:schemeClr val="tx1"/>
                </a:solidFill>
                <a:latin typeface="Times New Roman" panose="02020603050405020304" pitchFamily="18" charset="0"/>
                <a:cs typeface="Times New Roman" panose="02020603050405020304" pitchFamily="18" charset="0"/>
              </a:rPr>
              <a:t>Kirinyaga University Voting System</a:t>
            </a: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A </a:t>
            </a:r>
            <a:r>
              <a:rPr lang="en-US" b="1" dirty="0">
                <a:solidFill>
                  <a:schemeClr val="tx1"/>
                </a:solidFill>
                <a:latin typeface="Times New Roman" panose="02020603050405020304" pitchFamily="18" charset="0"/>
                <a:cs typeface="Times New Roman" panose="02020603050405020304" pitchFamily="18" charset="0"/>
              </a:rPr>
              <a:t>mobile and web hybrid system</a:t>
            </a:r>
            <a:r>
              <a:rPr lang="en-US" dirty="0">
                <a:solidFill>
                  <a:schemeClr val="tx1"/>
                </a:solidFill>
                <a:latin typeface="Times New Roman" panose="02020603050405020304" pitchFamily="18" charset="0"/>
                <a:cs typeface="Times New Roman" panose="02020603050405020304" pitchFamily="18" charset="0"/>
              </a:rPr>
              <a:t> allowing both onsite and remote participation.</a:t>
            </a: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Uses </a:t>
            </a:r>
            <a:r>
              <a:rPr lang="en-US" b="1" dirty="0">
                <a:solidFill>
                  <a:schemeClr val="tx1"/>
                </a:solidFill>
                <a:latin typeface="Times New Roman" panose="02020603050405020304" pitchFamily="18" charset="0"/>
                <a:cs typeface="Times New Roman" panose="02020603050405020304" pitchFamily="18" charset="0"/>
              </a:rPr>
              <a:t>real-time databases</a:t>
            </a:r>
            <a:r>
              <a:rPr lang="en-US" dirty="0">
                <a:solidFill>
                  <a:schemeClr val="tx1"/>
                </a:solidFill>
                <a:latin typeface="Times New Roman" panose="02020603050405020304" pitchFamily="18" charset="0"/>
                <a:cs typeface="Times New Roman" panose="02020603050405020304" pitchFamily="18" charset="0"/>
              </a:rPr>
              <a:t> and encryption to protect votes.</a:t>
            </a: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Inspired this project’s focus on </a:t>
            </a:r>
            <a:r>
              <a:rPr lang="en-US" b="1" dirty="0">
                <a:solidFill>
                  <a:schemeClr val="tx1"/>
                </a:solidFill>
                <a:latin typeface="Times New Roman" panose="02020603050405020304" pitchFamily="18" charset="0"/>
                <a:cs typeface="Times New Roman" panose="02020603050405020304" pitchFamily="18" charset="0"/>
              </a:rPr>
              <a:t>mobile-first accessibility</a:t>
            </a:r>
            <a:r>
              <a:rPr lang="en-US" dirty="0">
                <a:solidFill>
                  <a:schemeClr val="tx1"/>
                </a:solidFill>
                <a:latin typeface="Times New Roman" panose="02020603050405020304" pitchFamily="18" charset="0"/>
                <a:cs typeface="Times New Roman" panose="02020603050405020304" pitchFamily="18" charset="0"/>
              </a:rPr>
              <a:t> and Firebase integration.</a:t>
            </a:r>
          </a:p>
          <a:p>
            <a:r>
              <a:rPr lang="en-US" b="1" dirty="0">
                <a:solidFill>
                  <a:schemeClr val="tx1"/>
                </a:solidFill>
                <a:latin typeface="Times New Roman" panose="02020603050405020304" pitchFamily="18" charset="0"/>
                <a:cs typeface="Times New Roman" panose="02020603050405020304" pitchFamily="18" charset="0"/>
              </a:rPr>
              <a:t>Embu University </a:t>
            </a:r>
            <a:r>
              <a:rPr lang="en-US" b="1" dirty="0" err="1">
                <a:solidFill>
                  <a:schemeClr val="tx1"/>
                </a:solidFill>
                <a:latin typeface="Times New Roman" panose="02020603050405020304" pitchFamily="18" charset="0"/>
                <a:cs typeface="Times New Roman" panose="02020603050405020304" pitchFamily="18" charset="0"/>
              </a:rPr>
              <a:t>eBallot</a:t>
            </a:r>
            <a:r>
              <a:rPr lang="en-US" b="1" dirty="0">
                <a:solidFill>
                  <a:schemeClr val="tx1"/>
                </a:solidFill>
                <a:latin typeface="Times New Roman" panose="02020603050405020304" pitchFamily="18" charset="0"/>
                <a:cs typeface="Times New Roman" panose="02020603050405020304" pitchFamily="18" charset="0"/>
              </a:rPr>
              <a:t> Project</a:t>
            </a: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Based on a </a:t>
            </a:r>
            <a:r>
              <a:rPr lang="en-US" b="1" dirty="0">
                <a:solidFill>
                  <a:schemeClr val="tx1"/>
                </a:solidFill>
                <a:latin typeface="Times New Roman" panose="02020603050405020304" pitchFamily="18" charset="0"/>
                <a:cs typeface="Times New Roman" panose="02020603050405020304" pitchFamily="18" charset="0"/>
              </a:rPr>
              <a:t>desktop and web model</a:t>
            </a:r>
            <a:r>
              <a:rPr lang="en-US" dirty="0">
                <a:solidFill>
                  <a:schemeClr val="tx1"/>
                </a:solidFill>
                <a:latin typeface="Times New Roman" panose="02020603050405020304" pitchFamily="18" charset="0"/>
                <a:cs typeface="Times New Roman" panose="02020603050405020304" pitchFamily="18" charset="0"/>
              </a:rPr>
              <a:t>, limiting access to on-campus voters.</a:t>
            </a: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Emphasizes the importance of </a:t>
            </a:r>
            <a:r>
              <a:rPr lang="en-US" b="1" dirty="0">
                <a:solidFill>
                  <a:schemeClr val="tx1"/>
                </a:solidFill>
                <a:latin typeface="Times New Roman" panose="02020603050405020304" pitchFamily="18" charset="0"/>
                <a:cs typeface="Times New Roman" panose="02020603050405020304" pitchFamily="18" charset="0"/>
              </a:rPr>
              <a:t>system audit trails</a:t>
            </a:r>
            <a:r>
              <a:rPr lang="en-US" dirty="0">
                <a:solidFill>
                  <a:schemeClr val="tx1"/>
                </a:solidFill>
                <a:latin typeface="Times New Roman" panose="02020603050405020304" pitchFamily="18" charset="0"/>
                <a:cs typeface="Times New Roman" panose="02020603050405020304" pitchFamily="18" charset="0"/>
              </a:rPr>
              <a:t> and </a:t>
            </a:r>
            <a:r>
              <a:rPr lang="en-US" b="1" dirty="0">
                <a:solidFill>
                  <a:schemeClr val="tx1"/>
                </a:solidFill>
                <a:latin typeface="Times New Roman" panose="02020603050405020304" pitchFamily="18" charset="0"/>
                <a:cs typeface="Times New Roman" panose="02020603050405020304" pitchFamily="18" charset="0"/>
              </a:rPr>
              <a:t>voter verification</a:t>
            </a:r>
            <a:r>
              <a:rPr lang="en-US" dirty="0">
                <a:solidFill>
                  <a:schemeClr val="tx1"/>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Highlights challenges of physical lab-based voting still common in universities.</a:t>
            </a:r>
          </a:p>
          <a:p>
            <a:r>
              <a:rPr lang="en-US" dirty="0">
                <a:solidFill>
                  <a:schemeClr val="tx1"/>
                </a:solidFill>
                <a:latin typeface="Times New Roman" panose="02020603050405020304" pitchFamily="18" charset="0"/>
                <a:cs typeface="Times New Roman" panose="02020603050405020304" pitchFamily="18" charset="0"/>
              </a:rPr>
              <a:t>Summary</a:t>
            </a:r>
          </a:p>
          <a:p>
            <a:pPr marL="0" indent="0">
              <a:buNone/>
            </a:pPr>
            <a:r>
              <a:rPr lang="en-US" dirty="0">
                <a:solidFill>
                  <a:schemeClr val="tx1"/>
                </a:solidFill>
                <a:latin typeface="Times New Roman" panose="02020603050405020304" pitchFamily="18" charset="0"/>
                <a:cs typeface="Times New Roman" panose="02020603050405020304" pitchFamily="18" charset="0"/>
              </a:rPr>
              <a:t>These systems confirm that online student voting is feasible and beneficial. Common strengths include automated tallying, authentication, and improved turnaround times; common weaknesses are campus-bound access (where applicable), limited mobile reach, and the need for robust audit mechanisms. The proposed KCAU solution will adopt proven practices (authentication, real-time tallies, audit logs) while prioritizing mobile accessibility and cloud hosting to address those weaknesses.</a:t>
            </a:r>
          </a:p>
        </p:txBody>
      </p:sp>
    </p:spTree>
    <p:extLst>
      <p:ext uri="{BB962C8B-B14F-4D97-AF65-F5344CB8AC3E}">
        <p14:creationId xmlns:p14="http://schemas.microsoft.com/office/powerpoint/2010/main" val="1331951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27F99-AF0A-EB51-6C44-F961CC741A7B}"/>
              </a:ext>
            </a:extLst>
          </p:cNvPr>
          <p:cNvSpPr>
            <a:spLocks noGrp="1"/>
          </p:cNvSpPr>
          <p:nvPr>
            <p:ph type="title"/>
          </p:nvPr>
        </p:nvSpPr>
        <p:spPr>
          <a:xfrm>
            <a:off x="677334" y="124691"/>
            <a:ext cx="8596668" cy="845127"/>
          </a:xfrm>
        </p:spPr>
        <p:txBody>
          <a:bodyPr/>
          <a:lstStyle/>
          <a:p>
            <a:r>
              <a:rPr lang="en-US" dirty="0"/>
              <a:t>Project Methodology</a:t>
            </a:r>
          </a:p>
        </p:txBody>
      </p:sp>
      <p:sp>
        <p:nvSpPr>
          <p:cNvPr id="3" name="Content Placeholder 2">
            <a:extLst>
              <a:ext uri="{FF2B5EF4-FFF2-40B4-BE49-F238E27FC236}">
                <a16:creationId xmlns:a16="http://schemas.microsoft.com/office/drawing/2014/main" id="{60DA8D51-4080-DD65-7A6E-4FAF8D27721F}"/>
              </a:ext>
            </a:extLst>
          </p:cNvPr>
          <p:cNvSpPr>
            <a:spLocks noGrp="1"/>
          </p:cNvSpPr>
          <p:nvPr>
            <p:ph idx="1"/>
          </p:nvPr>
        </p:nvSpPr>
        <p:spPr>
          <a:xfrm>
            <a:off x="677334" y="969819"/>
            <a:ext cx="8596668" cy="5071544"/>
          </a:xfrm>
        </p:spPr>
        <p:txBody>
          <a:bodyPr/>
          <a:lstStyle/>
          <a:p>
            <a:r>
              <a:rPr lang="en-US" b="1" dirty="0">
                <a:solidFill>
                  <a:schemeClr val="tx1"/>
                </a:solidFill>
                <a:latin typeface="Times New Roman" panose="02020603050405020304" pitchFamily="18" charset="0"/>
                <a:cs typeface="Times New Roman" panose="02020603050405020304" pitchFamily="18" charset="0"/>
              </a:rPr>
              <a:t>Research Methodology</a:t>
            </a:r>
          </a:p>
          <a:p>
            <a:pPr>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Research Design:</a:t>
            </a:r>
            <a:r>
              <a:rPr lang="en-US" dirty="0">
                <a:solidFill>
                  <a:schemeClr val="tx1"/>
                </a:solidFill>
                <a:latin typeface="Times New Roman" panose="02020603050405020304" pitchFamily="18" charset="0"/>
                <a:cs typeface="Times New Roman" panose="02020603050405020304" pitchFamily="18" charset="0"/>
              </a:rPr>
              <a:t> Descriptive research design — used to study and document the current voting process at KCA University.</a:t>
            </a:r>
          </a:p>
          <a:p>
            <a:pPr>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Data Collection Methods:</a:t>
            </a:r>
            <a:r>
              <a:rPr lang="en-US" dirty="0">
                <a:solidFill>
                  <a:schemeClr val="tx1"/>
                </a:solidFill>
                <a:latin typeface="Times New Roman" panose="02020603050405020304" pitchFamily="18" charset="0"/>
                <a:cs typeface="Times New Roman" panose="02020603050405020304" pitchFamily="18" charset="0"/>
              </a:rPr>
              <a:t> Questionnaires, interviews with students and IECK officials, and observation during the election period.</a:t>
            </a:r>
          </a:p>
          <a:p>
            <a:pPr>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Sampling:</a:t>
            </a:r>
            <a:r>
              <a:rPr lang="en-US" dirty="0">
                <a:solidFill>
                  <a:schemeClr val="tx1"/>
                </a:solidFill>
                <a:latin typeface="Times New Roman" panose="02020603050405020304" pitchFamily="18" charset="0"/>
                <a:cs typeface="Times New Roman" panose="02020603050405020304" pitchFamily="18" charset="0"/>
              </a:rPr>
              <a:t> Purposive sampling — focusing on IECK members, class representatives, and frequent voters.</a:t>
            </a:r>
          </a:p>
          <a:p>
            <a:pPr>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Data Analysis:</a:t>
            </a:r>
            <a:r>
              <a:rPr lang="en-US" dirty="0">
                <a:solidFill>
                  <a:schemeClr val="tx1"/>
                </a:solidFill>
                <a:latin typeface="Times New Roman" panose="02020603050405020304" pitchFamily="18" charset="0"/>
                <a:cs typeface="Times New Roman" panose="02020603050405020304" pitchFamily="18" charset="0"/>
              </a:rPr>
              <a:t> Qualitative and quantitative analysis using summarized feedback and thematic grouping of responses.</a:t>
            </a:r>
          </a:p>
        </p:txBody>
      </p:sp>
    </p:spTree>
    <p:extLst>
      <p:ext uri="{BB962C8B-B14F-4D97-AF65-F5344CB8AC3E}">
        <p14:creationId xmlns:p14="http://schemas.microsoft.com/office/powerpoint/2010/main" val="1951765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A9D208-B27C-6A74-1725-DFAF6E6E3248}"/>
              </a:ext>
            </a:extLst>
          </p:cNvPr>
          <p:cNvSpPr>
            <a:spLocks noGrp="1"/>
          </p:cNvSpPr>
          <p:nvPr>
            <p:ph idx="1"/>
          </p:nvPr>
        </p:nvSpPr>
        <p:spPr>
          <a:xfrm>
            <a:off x="677334" y="678873"/>
            <a:ext cx="8596668" cy="5362489"/>
          </a:xfrm>
        </p:spPr>
        <p:txBody>
          <a:bodyPr/>
          <a:lstStyle/>
          <a:p>
            <a:r>
              <a:rPr lang="en-US" b="1" dirty="0">
                <a:solidFill>
                  <a:schemeClr val="tx1"/>
                </a:solidFill>
                <a:latin typeface="Times New Roman" panose="02020603050405020304" pitchFamily="18" charset="0"/>
                <a:cs typeface="Times New Roman" panose="02020603050405020304" pitchFamily="18" charset="0"/>
              </a:rPr>
              <a:t>System Development Methodology</a:t>
            </a: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The project will adopt the </a:t>
            </a:r>
            <a:r>
              <a:rPr lang="en-US" b="1" dirty="0">
                <a:solidFill>
                  <a:schemeClr val="tx1"/>
                </a:solidFill>
                <a:latin typeface="Times New Roman" panose="02020603050405020304" pitchFamily="18" charset="0"/>
                <a:cs typeface="Times New Roman" panose="02020603050405020304" pitchFamily="18" charset="0"/>
              </a:rPr>
              <a:t>Incremental Development Model</a:t>
            </a:r>
            <a:r>
              <a:rPr lang="en-US" dirty="0">
                <a:solidFill>
                  <a:schemeClr val="tx1"/>
                </a:solidFill>
                <a:latin typeface="Times New Roman" panose="02020603050405020304" pitchFamily="18" charset="0"/>
                <a:cs typeface="Times New Roman" panose="02020603050405020304" pitchFamily="18" charset="0"/>
              </a:rPr>
              <a:t>, allowing progressive design, testing, and improvement of system modules.</a:t>
            </a:r>
          </a:p>
          <a:p>
            <a:pPr>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Phase 1:</a:t>
            </a:r>
            <a:r>
              <a:rPr lang="en-US" dirty="0">
                <a:solidFill>
                  <a:schemeClr val="tx1"/>
                </a:solidFill>
                <a:latin typeface="Times New Roman" panose="02020603050405020304" pitchFamily="18" charset="0"/>
                <a:cs typeface="Times New Roman" panose="02020603050405020304" pitchFamily="18" charset="0"/>
              </a:rPr>
              <a:t> Requirement Analysis – defining user needs and system specifications.</a:t>
            </a:r>
          </a:p>
          <a:p>
            <a:pPr>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Phase 2:</a:t>
            </a:r>
            <a:r>
              <a:rPr lang="en-US" dirty="0">
                <a:solidFill>
                  <a:schemeClr val="tx1"/>
                </a:solidFill>
                <a:latin typeface="Times New Roman" panose="02020603050405020304" pitchFamily="18" charset="0"/>
                <a:cs typeface="Times New Roman" panose="02020603050405020304" pitchFamily="18" charset="0"/>
              </a:rPr>
              <a:t> System Design – designing database, interfaces, and architecture.</a:t>
            </a:r>
          </a:p>
          <a:p>
            <a:pPr>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Phase 3:</a:t>
            </a:r>
            <a:r>
              <a:rPr lang="en-US" dirty="0">
                <a:solidFill>
                  <a:schemeClr val="tx1"/>
                </a:solidFill>
                <a:latin typeface="Times New Roman" panose="02020603050405020304" pitchFamily="18" charset="0"/>
                <a:cs typeface="Times New Roman" panose="02020603050405020304" pitchFamily="18" charset="0"/>
              </a:rPr>
              <a:t> Implementation – developing modules (authentication, voting, results, admin).</a:t>
            </a:r>
          </a:p>
          <a:p>
            <a:pPr>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Phase 4:</a:t>
            </a:r>
            <a:r>
              <a:rPr lang="en-US" dirty="0">
                <a:solidFill>
                  <a:schemeClr val="tx1"/>
                </a:solidFill>
                <a:latin typeface="Times New Roman" panose="02020603050405020304" pitchFamily="18" charset="0"/>
                <a:cs typeface="Times New Roman" panose="02020603050405020304" pitchFamily="18" charset="0"/>
              </a:rPr>
              <a:t> Testing and Debugging – validating functionality and performance.</a:t>
            </a:r>
          </a:p>
          <a:p>
            <a:pPr>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Phase 5:</a:t>
            </a:r>
            <a:r>
              <a:rPr lang="en-US" dirty="0">
                <a:solidFill>
                  <a:schemeClr val="tx1"/>
                </a:solidFill>
                <a:latin typeface="Times New Roman" panose="02020603050405020304" pitchFamily="18" charset="0"/>
                <a:cs typeface="Times New Roman" panose="02020603050405020304" pitchFamily="18" charset="0"/>
              </a:rPr>
              <a:t> Deployment and Feedback – publishing prototype for testing and refining based on user input</a:t>
            </a:r>
          </a:p>
          <a:p>
            <a:endParaRPr lang="en-US" dirty="0">
              <a:solidFill>
                <a:schemeClr val="tx1"/>
              </a:solidFill>
            </a:endParaRPr>
          </a:p>
        </p:txBody>
      </p:sp>
    </p:spTree>
    <p:extLst>
      <p:ext uri="{BB962C8B-B14F-4D97-AF65-F5344CB8AC3E}">
        <p14:creationId xmlns:p14="http://schemas.microsoft.com/office/powerpoint/2010/main" val="1343597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C223D-96E9-A737-D604-8E53A95F9A01}"/>
              </a:ext>
            </a:extLst>
          </p:cNvPr>
          <p:cNvSpPr>
            <a:spLocks noGrp="1"/>
          </p:cNvSpPr>
          <p:nvPr>
            <p:ph type="title"/>
          </p:nvPr>
        </p:nvSpPr>
        <p:spPr>
          <a:xfrm>
            <a:off x="677334" y="193963"/>
            <a:ext cx="8596668" cy="748145"/>
          </a:xfrm>
        </p:spPr>
        <p:txBody>
          <a:bodyPr/>
          <a:lstStyle/>
          <a:p>
            <a:r>
              <a:rPr lang="en-US" dirty="0"/>
              <a:t>Project Resources and Budget</a:t>
            </a:r>
          </a:p>
        </p:txBody>
      </p:sp>
      <p:sp>
        <p:nvSpPr>
          <p:cNvPr id="3" name="Content Placeholder 2">
            <a:extLst>
              <a:ext uri="{FF2B5EF4-FFF2-40B4-BE49-F238E27FC236}">
                <a16:creationId xmlns:a16="http://schemas.microsoft.com/office/drawing/2014/main" id="{3F4349C8-3B5C-9738-C896-61B4FD9D2F85}"/>
              </a:ext>
            </a:extLst>
          </p:cNvPr>
          <p:cNvSpPr>
            <a:spLocks noGrp="1"/>
          </p:cNvSpPr>
          <p:nvPr>
            <p:ph idx="1"/>
          </p:nvPr>
        </p:nvSpPr>
        <p:spPr>
          <a:xfrm>
            <a:off x="677334" y="942108"/>
            <a:ext cx="10143066" cy="5915891"/>
          </a:xfrm>
        </p:spPr>
        <p:txBody>
          <a:bodyPr/>
          <a:lstStyle/>
          <a:p>
            <a:r>
              <a:rPr lang="en-US" b="1" dirty="0">
                <a:solidFill>
                  <a:schemeClr val="tx1"/>
                </a:solidFill>
                <a:latin typeface="Times New Roman" panose="02020603050405020304" pitchFamily="18" charset="0"/>
                <a:cs typeface="Times New Roman" panose="02020603050405020304" pitchFamily="18" charset="0"/>
              </a:rPr>
              <a:t>Project Resources</a:t>
            </a:r>
          </a:p>
          <a:p>
            <a:r>
              <a:rPr lang="en-US" b="1" dirty="0">
                <a:solidFill>
                  <a:schemeClr val="tx1"/>
                </a:solidFill>
                <a:latin typeface="Times New Roman" panose="02020603050405020304" pitchFamily="18" charset="0"/>
                <a:cs typeface="Times New Roman" panose="02020603050405020304" pitchFamily="18" charset="0"/>
              </a:rPr>
              <a:t>1. Human Resources</a:t>
            </a:r>
            <a:endParaRPr lang="en-US" dirty="0">
              <a:solidFill>
                <a:schemeClr val="tx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Project Developer:</a:t>
            </a:r>
            <a:r>
              <a:rPr lang="en-US" dirty="0">
                <a:solidFill>
                  <a:schemeClr val="tx1"/>
                </a:solidFill>
                <a:latin typeface="Times New Roman" panose="02020603050405020304" pitchFamily="18" charset="0"/>
                <a:cs typeface="Times New Roman" panose="02020603050405020304" pitchFamily="18" charset="0"/>
              </a:rPr>
              <a:t> Responsible for system design, coding, and testing.</a:t>
            </a:r>
          </a:p>
          <a:p>
            <a:pPr>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Supervisor:</a:t>
            </a:r>
            <a:r>
              <a:rPr lang="en-US" dirty="0">
                <a:solidFill>
                  <a:schemeClr val="tx1"/>
                </a:solidFill>
                <a:latin typeface="Times New Roman" panose="02020603050405020304" pitchFamily="18" charset="0"/>
                <a:cs typeface="Times New Roman" panose="02020603050405020304" pitchFamily="18" charset="0"/>
              </a:rPr>
              <a:t> Provides guidance and evaluation.</a:t>
            </a:r>
          </a:p>
          <a:p>
            <a:pPr>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IECK Members / Student Representatives:</a:t>
            </a:r>
            <a:r>
              <a:rPr lang="en-US" dirty="0">
                <a:solidFill>
                  <a:schemeClr val="tx1"/>
                </a:solidFill>
                <a:latin typeface="Times New Roman" panose="02020603050405020304" pitchFamily="18" charset="0"/>
                <a:cs typeface="Times New Roman" panose="02020603050405020304" pitchFamily="18" charset="0"/>
              </a:rPr>
              <a:t> Offer user feedback and validation.</a:t>
            </a:r>
          </a:p>
          <a:p>
            <a:r>
              <a:rPr lang="en-US" b="1" dirty="0">
                <a:solidFill>
                  <a:schemeClr val="tx1"/>
                </a:solidFill>
                <a:latin typeface="Times New Roman" panose="02020603050405020304" pitchFamily="18" charset="0"/>
                <a:cs typeface="Times New Roman" panose="02020603050405020304" pitchFamily="18" charset="0"/>
              </a:rPr>
              <a:t>2. Hardware Resources</a:t>
            </a:r>
            <a:endParaRPr lang="en-US" dirty="0">
              <a:solidFill>
                <a:schemeClr val="tx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Laptop or desktop computer (development).</a:t>
            </a: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Android mobile device (testing).</a:t>
            </a: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Reliable internet connection.</a:t>
            </a:r>
          </a:p>
          <a:p>
            <a:r>
              <a:rPr lang="en-US" b="1" dirty="0">
                <a:solidFill>
                  <a:schemeClr val="tx1"/>
                </a:solidFill>
                <a:latin typeface="Times New Roman" panose="02020603050405020304" pitchFamily="18" charset="0"/>
                <a:cs typeface="Times New Roman" panose="02020603050405020304" pitchFamily="18" charset="0"/>
              </a:rPr>
              <a:t>3. Software Resources</a:t>
            </a:r>
            <a:endParaRPr lang="en-US" dirty="0">
              <a:solidFill>
                <a:schemeClr val="tx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Android Studio</a:t>
            </a:r>
            <a:r>
              <a:rPr lang="en-US" dirty="0">
                <a:solidFill>
                  <a:schemeClr val="tx1"/>
                </a:solidFill>
                <a:latin typeface="Times New Roman" panose="02020603050405020304" pitchFamily="18" charset="0"/>
                <a:cs typeface="Times New Roman" panose="02020603050405020304" pitchFamily="18" charset="0"/>
              </a:rPr>
              <a:t> – for system development.</a:t>
            </a:r>
          </a:p>
          <a:p>
            <a:pPr>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Firebase &amp; </a:t>
            </a:r>
            <a:r>
              <a:rPr lang="en-US" b="1" dirty="0" err="1">
                <a:solidFill>
                  <a:schemeClr val="tx1"/>
                </a:solidFill>
                <a:latin typeface="Times New Roman" panose="02020603050405020304" pitchFamily="18" charset="0"/>
                <a:cs typeface="Times New Roman" panose="02020603050405020304" pitchFamily="18" charset="0"/>
              </a:rPr>
              <a:t>Firestore</a:t>
            </a:r>
            <a:r>
              <a:rPr lang="en-US" dirty="0">
                <a:solidFill>
                  <a:schemeClr val="tx1"/>
                </a:solidFill>
                <a:latin typeface="Times New Roman" panose="02020603050405020304" pitchFamily="18" charset="0"/>
                <a:cs typeface="Times New Roman" panose="02020603050405020304" pitchFamily="18" charset="0"/>
              </a:rPr>
              <a:t> – for backend and database management.</a:t>
            </a:r>
          </a:p>
          <a:p>
            <a:pPr>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Canva</a:t>
            </a:r>
            <a:r>
              <a:rPr lang="en-US" dirty="0">
                <a:solidFill>
                  <a:schemeClr val="tx1"/>
                </a:solidFill>
                <a:latin typeface="Times New Roman" panose="02020603050405020304" pitchFamily="18" charset="0"/>
                <a:cs typeface="Times New Roman" panose="02020603050405020304" pitchFamily="18" charset="0"/>
              </a:rPr>
              <a:t> – for interface design.</a:t>
            </a:r>
          </a:p>
          <a:p>
            <a:pPr>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MS Word &amp; PowerPoint</a:t>
            </a:r>
            <a:r>
              <a:rPr lang="en-US" dirty="0">
                <a:solidFill>
                  <a:schemeClr val="tx1"/>
                </a:solidFill>
                <a:latin typeface="Times New Roman" panose="02020603050405020304" pitchFamily="18" charset="0"/>
                <a:cs typeface="Times New Roman" panose="02020603050405020304" pitchFamily="18" charset="0"/>
              </a:rPr>
              <a:t> – for documentation and presentation.</a:t>
            </a:r>
          </a:p>
          <a:p>
            <a:endParaRPr lang="en-US" dirty="0">
              <a:solidFill>
                <a:schemeClr val="tx1"/>
              </a:solidFill>
            </a:endParaRPr>
          </a:p>
        </p:txBody>
      </p:sp>
    </p:spTree>
    <p:extLst>
      <p:ext uri="{BB962C8B-B14F-4D97-AF65-F5344CB8AC3E}">
        <p14:creationId xmlns:p14="http://schemas.microsoft.com/office/powerpoint/2010/main" val="26950937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729AD-38F5-2B8C-1062-02CA1965BD06}"/>
              </a:ext>
            </a:extLst>
          </p:cNvPr>
          <p:cNvSpPr>
            <a:spLocks noGrp="1"/>
          </p:cNvSpPr>
          <p:nvPr>
            <p:ph type="title"/>
          </p:nvPr>
        </p:nvSpPr>
        <p:spPr>
          <a:xfrm>
            <a:off x="429490" y="207819"/>
            <a:ext cx="8596668" cy="637309"/>
          </a:xfrm>
        </p:spPr>
        <p:txBody>
          <a:bodyPr>
            <a:normAutofit fontScale="90000"/>
          </a:bodyPr>
          <a:lstStyle/>
          <a:p>
            <a:r>
              <a:rPr lang="en-US" dirty="0"/>
              <a:t>Estimated Budget</a:t>
            </a:r>
          </a:p>
        </p:txBody>
      </p:sp>
      <p:graphicFrame>
        <p:nvGraphicFramePr>
          <p:cNvPr id="5" name="Table 5">
            <a:extLst>
              <a:ext uri="{FF2B5EF4-FFF2-40B4-BE49-F238E27FC236}">
                <a16:creationId xmlns:a16="http://schemas.microsoft.com/office/drawing/2014/main" id="{79D2898E-5DA4-274A-6E65-C047D4C0B8F8}"/>
              </a:ext>
            </a:extLst>
          </p:cNvPr>
          <p:cNvGraphicFramePr>
            <a:graphicFrameLocks noGrp="1"/>
          </p:cNvGraphicFramePr>
          <p:nvPr>
            <p:ph idx="1"/>
            <p:extLst>
              <p:ext uri="{D42A27DB-BD31-4B8C-83A1-F6EECF244321}">
                <p14:modId xmlns:p14="http://schemas.microsoft.com/office/powerpoint/2010/main" val="1193317734"/>
              </p:ext>
            </p:extLst>
          </p:nvPr>
        </p:nvGraphicFramePr>
        <p:xfrm>
          <a:off x="276081" y="1314537"/>
          <a:ext cx="8596310" cy="2494280"/>
        </p:xfrm>
        <a:graphic>
          <a:graphicData uri="http://schemas.openxmlformats.org/drawingml/2006/table">
            <a:tbl>
              <a:tblPr firstRow="1" bandRow="1">
                <a:tableStyleId>{5C22544A-7EE6-4342-B048-85BDC9FD1C3A}</a:tableStyleId>
              </a:tblPr>
              <a:tblGrid>
                <a:gridCol w="873846">
                  <a:extLst>
                    <a:ext uri="{9D8B030D-6E8A-4147-A177-3AD203B41FA5}">
                      <a16:colId xmlns:a16="http://schemas.microsoft.com/office/drawing/2014/main" val="2706862546"/>
                    </a:ext>
                  </a:extLst>
                </a:gridCol>
                <a:gridCol w="2564678">
                  <a:extLst>
                    <a:ext uri="{9D8B030D-6E8A-4147-A177-3AD203B41FA5}">
                      <a16:colId xmlns:a16="http://schemas.microsoft.com/office/drawing/2014/main" val="4135975684"/>
                    </a:ext>
                  </a:extLst>
                </a:gridCol>
                <a:gridCol w="2165495">
                  <a:extLst>
                    <a:ext uri="{9D8B030D-6E8A-4147-A177-3AD203B41FA5}">
                      <a16:colId xmlns:a16="http://schemas.microsoft.com/office/drawing/2014/main" val="2799762182"/>
                    </a:ext>
                  </a:extLst>
                </a:gridCol>
                <a:gridCol w="1473200">
                  <a:extLst>
                    <a:ext uri="{9D8B030D-6E8A-4147-A177-3AD203B41FA5}">
                      <a16:colId xmlns:a16="http://schemas.microsoft.com/office/drawing/2014/main" val="3324005999"/>
                    </a:ext>
                  </a:extLst>
                </a:gridCol>
                <a:gridCol w="1519091">
                  <a:extLst>
                    <a:ext uri="{9D8B030D-6E8A-4147-A177-3AD203B41FA5}">
                      <a16:colId xmlns:a16="http://schemas.microsoft.com/office/drawing/2014/main" val="487987720"/>
                    </a:ext>
                  </a:extLst>
                </a:gridCol>
              </a:tblGrid>
              <a:tr h="370840">
                <a:tc>
                  <a:txBody>
                    <a:bodyPr/>
                    <a:lstStyle/>
                    <a:p>
                      <a:r>
                        <a:rPr lang="en-US" dirty="0">
                          <a:latin typeface="Times New Roman" panose="02020603050405020304" pitchFamily="18" charset="0"/>
                          <a:cs typeface="Times New Roman" panose="02020603050405020304" pitchFamily="18" charset="0"/>
                        </a:rPr>
                        <a:t>S/N</a:t>
                      </a:r>
                    </a:p>
                  </a:txBody>
                  <a:tcPr/>
                </a:tc>
                <a:tc>
                  <a:txBody>
                    <a:bodyPr/>
                    <a:lstStyle/>
                    <a:p>
                      <a:r>
                        <a:rPr lang="en-US" dirty="0">
                          <a:latin typeface="Times New Roman" panose="02020603050405020304" pitchFamily="18" charset="0"/>
                          <a:cs typeface="Times New Roman" panose="02020603050405020304" pitchFamily="18" charset="0"/>
                        </a:rPr>
                        <a:t>ITEM</a:t>
                      </a:r>
                    </a:p>
                  </a:txBody>
                  <a:tcPr/>
                </a:tc>
                <a:tc>
                  <a:txBody>
                    <a:bodyPr/>
                    <a:lstStyle/>
                    <a:p>
                      <a:r>
                        <a:rPr lang="en-US" dirty="0">
                          <a:latin typeface="Times New Roman" panose="02020603050405020304" pitchFamily="18" charset="0"/>
                          <a:cs typeface="Times New Roman" panose="02020603050405020304" pitchFamily="18" charset="0"/>
                        </a:rPr>
                        <a:t>UNIT COST</a:t>
                      </a:r>
                    </a:p>
                  </a:txBody>
                  <a:tcPr/>
                </a:tc>
                <a:tc>
                  <a:txBody>
                    <a:bodyPr/>
                    <a:lstStyle/>
                    <a:p>
                      <a:r>
                        <a:rPr lang="en-US" dirty="0">
                          <a:latin typeface="Times New Roman" panose="02020603050405020304" pitchFamily="18" charset="0"/>
                          <a:cs typeface="Times New Roman" panose="02020603050405020304" pitchFamily="18" charset="0"/>
                        </a:rPr>
                        <a:t>QUANTITY</a:t>
                      </a:r>
                    </a:p>
                  </a:txBody>
                  <a:tcPr/>
                </a:tc>
                <a:tc>
                  <a:txBody>
                    <a:bodyPr/>
                    <a:lstStyle/>
                    <a:p>
                      <a:r>
                        <a:rPr lang="en-US" dirty="0">
                          <a:latin typeface="Times New Roman" panose="02020603050405020304" pitchFamily="18" charset="0"/>
                          <a:cs typeface="Times New Roman" panose="02020603050405020304" pitchFamily="18" charset="0"/>
                        </a:rPr>
                        <a:t>TOTAL COST</a:t>
                      </a:r>
                    </a:p>
                  </a:txBody>
                  <a:tcPr/>
                </a:tc>
                <a:extLst>
                  <a:ext uri="{0D108BD9-81ED-4DB2-BD59-A6C34878D82A}">
                    <a16:rowId xmlns:a16="http://schemas.microsoft.com/office/drawing/2014/main" val="3214919346"/>
                  </a:ext>
                </a:extLst>
              </a:tr>
              <a:tr h="370840">
                <a:tc>
                  <a:txBody>
                    <a:bodyPr/>
                    <a:lstStyle/>
                    <a:p>
                      <a:r>
                        <a:rPr lang="en-US" dirty="0">
                          <a:latin typeface="Times New Roman" panose="02020603050405020304" pitchFamily="18" charset="0"/>
                          <a:cs typeface="Times New Roman" panose="02020603050405020304" pitchFamily="18" charset="0"/>
                        </a:rPr>
                        <a:t>1.</a:t>
                      </a:r>
                    </a:p>
                  </a:txBody>
                  <a:tcPr/>
                </a:tc>
                <a:tc>
                  <a:txBody>
                    <a:bodyPr/>
                    <a:lstStyle/>
                    <a:p>
                      <a:r>
                        <a:rPr lang="en-US" dirty="0">
                          <a:latin typeface="Times New Roman" panose="02020603050405020304" pitchFamily="18" charset="0"/>
                          <a:cs typeface="Times New Roman" panose="02020603050405020304" pitchFamily="18" charset="0"/>
                        </a:rPr>
                        <a:t>Internet &amp; Data Bundles</a:t>
                      </a:r>
                    </a:p>
                  </a:txBody>
                  <a:tcPr/>
                </a:tc>
                <a:tc>
                  <a:txBody>
                    <a:bodyPr/>
                    <a:lstStyle/>
                    <a:p>
                      <a:r>
                        <a:rPr lang="en-US" dirty="0">
                          <a:latin typeface="Times New Roman" panose="02020603050405020304" pitchFamily="18" charset="0"/>
                          <a:cs typeface="Times New Roman" panose="02020603050405020304" pitchFamily="18" charset="0"/>
                        </a:rPr>
                        <a:t>3,000</a:t>
                      </a: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69685873"/>
                  </a:ext>
                </a:extLst>
              </a:tr>
              <a:tr h="370840">
                <a:tc>
                  <a:txBody>
                    <a:bodyPr/>
                    <a:lstStyle/>
                    <a:p>
                      <a:r>
                        <a:rPr lang="en-US" dirty="0">
                          <a:latin typeface="Times New Roman" panose="02020603050405020304" pitchFamily="18" charset="0"/>
                          <a:cs typeface="Times New Roman" panose="02020603050405020304" pitchFamily="18" charset="0"/>
                        </a:rPr>
                        <a:t>2.</a:t>
                      </a:r>
                    </a:p>
                  </a:txBody>
                  <a:tcPr/>
                </a:tc>
                <a:tc>
                  <a:txBody>
                    <a:bodyPr/>
                    <a:lstStyle/>
                    <a:p>
                      <a:r>
                        <a:rPr lang="en-US" dirty="0">
                          <a:latin typeface="Times New Roman" panose="02020603050405020304" pitchFamily="18" charset="0"/>
                          <a:cs typeface="Times New Roman" panose="02020603050405020304" pitchFamily="18" charset="0"/>
                        </a:rPr>
                        <a:t>Printing &amp; Binding</a:t>
                      </a:r>
                    </a:p>
                  </a:txBody>
                  <a:tcPr/>
                </a:tc>
                <a:tc>
                  <a:txBody>
                    <a:bodyPr/>
                    <a:lstStyle/>
                    <a:p>
                      <a:r>
                        <a:rPr lang="en-US" dirty="0">
                          <a:latin typeface="Times New Roman" panose="02020603050405020304" pitchFamily="18" charset="0"/>
                          <a:cs typeface="Times New Roman" panose="02020603050405020304" pitchFamily="18" charset="0"/>
                        </a:rPr>
                        <a:t>1,000</a:t>
                      </a: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53494850"/>
                  </a:ext>
                </a:extLst>
              </a:tr>
              <a:tr h="370840">
                <a:tc>
                  <a:txBody>
                    <a:bodyPr/>
                    <a:lstStyle/>
                    <a:p>
                      <a:r>
                        <a:rPr lang="en-US" dirty="0">
                          <a:latin typeface="Times New Roman" panose="02020603050405020304" pitchFamily="18" charset="0"/>
                          <a:cs typeface="Times New Roman" panose="02020603050405020304" pitchFamily="18" charset="0"/>
                        </a:rPr>
                        <a:t>3.</a:t>
                      </a:r>
                    </a:p>
                  </a:txBody>
                  <a:tcPr/>
                </a:tc>
                <a:tc>
                  <a:txBody>
                    <a:bodyPr/>
                    <a:lstStyle/>
                    <a:p>
                      <a:r>
                        <a:rPr lang="en-US" dirty="0">
                          <a:latin typeface="Times New Roman" panose="02020603050405020304" pitchFamily="18" charset="0"/>
                          <a:cs typeface="Times New Roman" panose="02020603050405020304" pitchFamily="18" charset="0"/>
                        </a:rPr>
                        <a:t>Stationery</a:t>
                      </a:r>
                    </a:p>
                  </a:txBody>
                  <a:tcPr/>
                </a:tc>
                <a:tc>
                  <a:txBody>
                    <a:bodyPr/>
                    <a:lstStyle/>
                    <a:p>
                      <a:r>
                        <a:rPr lang="en-US" dirty="0">
                          <a:latin typeface="Times New Roman" panose="02020603050405020304" pitchFamily="18" charset="0"/>
                          <a:cs typeface="Times New Roman" panose="02020603050405020304" pitchFamily="18" charset="0"/>
                        </a:rPr>
                        <a:t>1,000</a:t>
                      </a: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81962387"/>
                  </a:ext>
                </a:extLst>
              </a:tr>
              <a:tr h="370840">
                <a:tc>
                  <a:txBody>
                    <a:bodyPr/>
                    <a:lstStyle/>
                    <a:p>
                      <a:r>
                        <a:rPr lang="en-US" dirty="0">
                          <a:latin typeface="Times New Roman" panose="02020603050405020304" pitchFamily="18" charset="0"/>
                          <a:cs typeface="Times New Roman" panose="02020603050405020304" pitchFamily="18" charset="0"/>
                        </a:rPr>
                        <a:t>4.</a:t>
                      </a:r>
                    </a:p>
                  </a:txBody>
                  <a:tcPr/>
                </a:tc>
                <a:tc>
                  <a:txBody>
                    <a:bodyPr/>
                    <a:lstStyle/>
                    <a:p>
                      <a:r>
                        <a:rPr lang="en-US" dirty="0">
                          <a:latin typeface="Times New Roman" panose="02020603050405020304" pitchFamily="18" charset="0"/>
                          <a:cs typeface="Times New Roman" panose="02020603050405020304" pitchFamily="18" charset="0"/>
                        </a:rPr>
                        <a:t>Research</a:t>
                      </a:r>
                    </a:p>
                  </a:txBody>
                  <a:tcPr/>
                </a:tc>
                <a:tc>
                  <a:txBody>
                    <a:bodyPr/>
                    <a:lstStyle/>
                    <a:p>
                      <a:r>
                        <a:rPr lang="en-US" dirty="0">
                          <a:latin typeface="Times New Roman" panose="02020603050405020304" pitchFamily="18" charset="0"/>
                          <a:cs typeface="Times New Roman" panose="02020603050405020304" pitchFamily="18" charset="0"/>
                        </a:rPr>
                        <a:t>5,000</a:t>
                      </a: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59930335"/>
                  </a:ext>
                </a:extLst>
              </a:tr>
              <a:tr h="370840">
                <a:tc>
                  <a:txBody>
                    <a:bodyPr/>
                    <a:lstStyle/>
                    <a:p>
                      <a:r>
                        <a:rPr lang="en-US" dirty="0">
                          <a:latin typeface="Times New Roman" panose="02020603050405020304" pitchFamily="18" charset="0"/>
                          <a:cs typeface="Times New Roman" panose="02020603050405020304" pitchFamily="18" charset="0"/>
                        </a:rPr>
                        <a:t>5. </a:t>
                      </a:r>
                    </a:p>
                  </a:txBody>
                  <a:tcPr/>
                </a:tc>
                <a:tc>
                  <a:txBody>
                    <a:bodyPr/>
                    <a:lstStyle/>
                    <a:p>
                      <a:r>
                        <a:rPr lang="en-US" dirty="0">
                          <a:latin typeface="Times New Roman" panose="02020603050405020304" pitchFamily="18" charset="0"/>
                          <a:cs typeface="Times New Roman" panose="02020603050405020304" pitchFamily="18" charset="0"/>
                        </a:rPr>
                        <a:t>Total</a:t>
                      </a:r>
                    </a:p>
                  </a:txBody>
                  <a:tcPr/>
                </a:tc>
                <a:tc>
                  <a:txBody>
                    <a:bodyPr/>
                    <a:lstStyle/>
                    <a:p>
                      <a:r>
                        <a:rPr lang="en-US" dirty="0">
                          <a:latin typeface="Times New Roman" panose="02020603050405020304" pitchFamily="18" charset="0"/>
                          <a:cs typeface="Times New Roman" panose="02020603050405020304" pitchFamily="18" charset="0"/>
                        </a:rPr>
                        <a:t>10,000</a:t>
                      </a: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8745683"/>
                  </a:ext>
                </a:extLst>
              </a:tr>
            </a:tbl>
          </a:graphicData>
        </a:graphic>
      </p:graphicFrame>
    </p:spTree>
    <p:extLst>
      <p:ext uri="{BB962C8B-B14F-4D97-AF65-F5344CB8AC3E}">
        <p14:creationId xmlns:p14="http://schemas.microsoft.com/office/powerpoint/2010/main" val="3569935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35654-BA4D-FE12-97F8-FD7B4EF2C102}"/>
              </a:ext>
            </a:extLst>
          </p:cNvPr>
          <p:cNvSpPr>
            <a:spLocks noGrp="1"/>
          </p:cNvSpPr>
          <p:nvPr>
            <p:ph type="title"/>
          </p:nvPr>
        </p:nvSpPr>
        <p:spPr>
          <a:xfrm>
            <a:off x="677334" y="609600"/>
            <a:ext cx="8596668" cy="660400"/>
          </a:xfrm>
        </p:spPr>
        <p:txBody>
          <a:bodyPr/>
          <a:lstStyle/>
          <a:p>
            <a:r>
              <a:rPr lang="en-US" dirty="0"/>
              <a:t>Project Schedule</a:t>
            </a:r>
          </a:p>
        </p:txBody>
      </p:sp>
      <p:graphicFrame>
        <p:nvGraphicFramePr>
          <p:cNvPr id="9" name="Table 9">
            <a:extLst>
              <a:ext uri="{FF2B5EF4-FFF2-40B4-BE49-F238E27FC236}">
                <a16:creationId xmlns:a16="http://schemas.microsoft.com/office/drawing/2014/main" id="{152A2AD2-CECA-9E5D-6EA6-EDA8251A4AC8}"/>
              </a:ext>
            </a:extLst>
          </p:cNvPr>
          <p:cNvGraphicFramePr>
            <a:graphicFrameLocks noGrp="1"/>
          </p:cNvGraphicFramePr>
          <p:nvPr>
            <p:ph idx="1"/>
            <p:extLst>
              <p:ext uri="{D42A27DB-BD31-4B8C-83A1-F6EECF244321}">
                <p14:modId xmlns:p14="http://schemas.microsoft.com/office/powerpoint/2010/main" val="3204753451"/>
              </p:ext>
            </p:extLst>
          </p:nvPr>
        </p:nvGraphicFramePr>
        <p:xfrm>
          <a:off x="677166" y="1612900"/>
          <a:ext cx="8596836" cy="3558950"/>
        </p:xfrm>
        <a:graphic>
          <a:graphicData uri="http://schemas.openxmlformats.org/drawingml/2006/table">
            <a:tbl>
              <a:tblPr firstRow="1" bandRow="1">
                <a:tableStyleId>{5C22544A-7EE6-4342-B048-85BDC9FD1C3A}</a:tableStyleId>
              </a:tblPr>
              <a:tblGrid>
                <a:gridCol w="707134">
                  <a:extLst>
                    <a:ext uri="{9D8B030D-6E8A-4147-A177-3AD203B41FA5}">
                      <a16:colId xmlns:a16="http://schemas.microsoft.com/office/drawing/2014/main" val="2835141465"/>
                    </a:ext>
                  </a:extLst>
                </a:gridCol>
                <a:gridCol w="1409700">
                  <a:extLst>
                    <a:ext uri="{9D8B030D-6E8A-4147-A177-3AD203B41FA5}">
                      <a16:colId xmlns:a16="http://schemas.microsoft.com/office/drawing/2014/main" val="3792600430"/>
                    </a:ext>
                  </a:extLst>
                </a:gridCol>
                <a:gridCol w="748778">
                  <a:extLst>
                    <a:ext uri="{9D8B030D-6E8A-4147-A177-3AD203B41FA5}">
                      <a16:colId xmlns:a16="http://schemas.microsoft.com/office/drawing/2014/main" val="3318007911"/>
                    </a:ext>
                  </a:extLst>
                </a:gridCol>
                <a:gridCol w="955204">
                  <a:extLst>
                    <a:ext uri="{9D8B030D-6E8A-4147-A177-3AD203B41FA5}">
                      <a16:colId xmlns:a16="http://schemas.microsoft.com/office/drawing/2014/main" val="483583249"/>
                    </a:ext>
                  </a:extLst>
                </a:gridCol>
                <a:gridCol w="955204">
                  <a:extLst>
                    <a:ext uri="{9D8B030D-6E8A-4147-A177-3AD203B41FA5}">
                      <a16:colId xmlns:a16="http://schemas.microsoft.com/office/drawing/2014/main" val="3421254976"/>
                    </a:ext>
                  </a:extLst>
                </a:gridCol>
                <a:gridCol w="955204">
                  <a:extLst>
                    <a:ext uri="{9D8B030D-6E8A-4147-A177-3AD203B41FA5}">
                      <a16:colId xmlns:a16="http://schemas.microsoft.com/office/drawing/2014/main" val="1872884360"/>
                    </a:ext>
                  </a:extLst>
                </a:gridCol>
                <a:gridCol w="955204">
                  <a:extLst>
                    <a:ext uri="{9D8B030D-6E8A-4147-A177-3AD203B41FA5}">
                      <a16:colId xmlns:a16="http://schemas.microsoft.com/office/drawing/2014/main" val="1656307121"/>
                    </a:ext>
                  </a:extLst>
                </a:gridCol>
                <a:gridCol w="955204">
                  <a:extLst>
                    <a:ext uri="{9D8B030D-6E8A-4147-A177-3AD203B41FA5}">
                      <a16:colId xmlns:a16="http://schemas.microsoft.com/office/drawing/2014/main" val="912368380"/>
                    </a:ext>
                  </a:extLst>
                </a:gridCol>
                <a:gridCol w="955204">
                  <a:extLst>
                    <a:ext uri="{9D8B030D-6E8A-4147-A177-3AD203B41FA5}">
                      <a16:colId xmlns:a16="http://schemas.microsoft.com/office/drawing/2014/main" val="1174893507"/>
                    </a:ext>
                  </a:extLst>
                </a:gridCol>
              </a:tblGrid>
              <a:tr h="1028700">
                <a:tc>
                  <a:txBody>
                    <a:bodyPr/>
                    <a:lstStyle/>
                    <a:p>
                      <a:pPr marL="0" marR="0"/>
                      <a:r>
                        <a:rPr lang="en-US" sz="1200" dirty="0">
                          <a:effectLst/>
                          <a:latin typeface="Times New Roman" panose="02020603050405020304" pitchFamily="18" charset="0"/>
                          <a:cs typeface="Times New Roman" panose="02020603050405020304" pitchFamily="18" charset="0"/>
                        </a:rPr>
                        <a:t>Task No.</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dirty="0">
                          <a:effectLst/>
                          <a:latin typeface="Times New Roman" panose="02020603050405020304" pitchFamily="18" charset="0"/>
                          <a:cs typeface="Times New Roman" panose="02020603050405020304" pitchFamily="18" charset="0"/>
                        </a:rPr>
                        <a:t>Descriptions</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dirty="0">
                          <a:effectLst/>
                          <a:latin typeface="Times New Roman" panose="02020603050405020304" pitchFamily="18" charset="0"/>
                          <a:cs typeface="Times New Roman" panose="02020603050405020304" pitchFamily="18" charset="0"/>
                        </a:rPr>
                        <a:t>Task No. of hrs.</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Subtask No. of hrs.</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Planned</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Start Date</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Actual</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Start Date</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Planned</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Completion</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Date</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Actual Completion date</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r>
                        <a:rPr lang="en-US" sz="1200" dirty="0">
                          <a:effectLst/>
                          <a:latin typeface="Times New Roman" panose="02020603050405020304" pitchFamily="18" charset="0"/>
                          <a:cs typeface="Times New Roman" panose="02020603050405020304" pitchFamily="18" charset="0"/>
                        </a:rPr>
                        <a:t>Deliverables</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50654282"/>
                  </a:ext>
                </a:extLst>
              </a:tr>
              <a:tr h="414610">
                <a:tc>
                  <a:txBody>
                    <a:bodyPr/>
                    <a:lstStyle/>
                    <a:p>
                      <a:pPr marL="0" marR="0"/>
                      <a:r>
                        <a:rPr lang="en-US" sz="1200" dirty="0">
                          <a:effectLst/>
                          <a:latin typeface="Times New Roman" panose="02020603050405020304" pitchFamily="18" charset="0"/>
                          <a:cs typeface="Times New Roman" panose="02020603050405020304" pitchFamily="18" charset="0"/>
                        </a:rPr>
                        <a:t>1</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Planning</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dirty="0">
                          <a:effectLst/>
                          <a:latin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dirty="0">
                          <a:effectLst/>
                          <a:latin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34094926"/>
                  </a:ext>
                </a:extLst>
              </a:tr>
              <a:tr h="414610">
                <a:tc>
                  <a:txBody>
                    <a:bodyPr/>
                    <a:lstStyle/>
                    <a:p>
                      <a:pPr marL="0" marR="0"/>
                      <a:r>
                        <a:rPr lang="en-US" sz="1200">
                          <a:effectLst/>
                          <a:latin typeface="Times New Roman" panose="02020603050405020304" pitchFamily="18" charset="0"/>
                          <a:cs typeface="Times New Roman" panose="02020603050405020304" pitchFamily="18" charset="0"/>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dirty="0">
                          <a:latin typeface="Times New Roman" panose="02020603050405020304" pitchFamily="18" charset="0"/>
                          <a:cs typeface="Times New Roman" panose="02020603050405020304" pitchFamily="18" charset="0"/>
                        </a:rPr>
                        <a:t>System</a:t>
                      </a:r>
                      <a:r>
                        <a:rPr lang="en-US" sz="1200" dirty="0">
                          <a:effectLst/>
                          <a:latin typeface="Times New Roman" panose="02020603050405020304" pitchFamily="18" charset="0"/>
                          <a:cs typeface="Times New Roman" panose="02020603050405020304" pitchFamily="18" charset="0"/>
                        </a:rPr>
                        <a:t> Design</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3609180"/>
                  </a:ext>
                </a:extLst>
              </a:tr>
              <a:tr h="414610">
                <a:tc>
                  <a:txBody>
                    <a:bodyPr/>
                    <a:lstStyle/>
                    <a:p>
                      <a:pPr marL="0" marR="0"/>
                      <a:r>
                        <a:rPr lang="en-US" sz="1200">
                          <a:effectLst/>
                          <a:latin typeface="Times New Roman" panose="02020603050405020304" pitchFamily="18" charset="0"/>
                          <a:cs typeface="Times New Roman" panose="02020603050405020304" pitchFamily="18" charset="0"/>
                        </a:rPr>
                        <a:t>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Implementation</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59722419"/>
                  </a:ext>
                </a:extLst>
              </a:tr>
              <a:tr h="414610">
                <a:tc>
                  <a:txBody>
                    <a:bodyPr/>
                    <a:lstStyle/>
                    <a:p>
                      <a:pPr marL="0" marR="0"/>
                      <a:r>
                        <a:rPr lang="en-US" sz="1200" dirty="0">
                          <a:effectLst/>
                          <a:latin typeface="Times New Roman" panose="02020603050405020304" pitchFamily="18" charset="0"/>
                          <a:cs typeface="Times New Roman" panose="02020603050405020304" pitchFamily="18" charset="0"/>
                        </a:rPr>
                        <a:t>4</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dirty="0">
                          <a:effectLst/>
                          <a:latin typeface="Times New Roman" panose="02020603050405020304" pitchFamily="18" charset="0"/>
                          <a:cs typeface="Times New Roman" panose="02020603050405020304" pitchFamily="18" charset="0"/>
                        </a:rPr>
                        <a:t>Testing </a:t>
                      </a:r>
                      <a:r>
                        <a:rPr lang="en-US" sz="1200" dirty="0">
                          <a:latin typeface="Times New Roman" panose="02020603050405020304" pitchFamily="18" charset="0"/>
                          <a:cs typeface="Times New Roman" panose="02020603050405020304" pitchFamily="18" charset="0"/>
                        </a:rPr>
                        <a:t>and Debugging</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73057822"/>
                  </a:ext>
                </a:extLst>
              </a:tr>
              <a:tr h="414610">
                <a:tc>
                  <a:txBody>
                    <a:bodyPr/>
                    <a:lstStyle/>
                    <a:p>
                      <a:pPr marL="0" marR="0"/>
                      <a:r>
                        <a:rPr lang="en-US" sz="1200" dirty="0">
                          <a:effectLst/>
                          <a:latin typeface="Times New Roman" panose="02020603050405020304" pitchFamily="18" charset="0"/>
                          <a:cs typeface="Times New Roman" panose="02020603050405020304" pitchFamily="18" charset="0"/>
                        </a:rPr>
                        <a:t>5</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dirty="0">
                          <a:effectLst/>
                          <a:latin typeface="Times New Roman" panose="02020603050405020304" pitchFamily="18" charset="0"/>
                          <a:cs typeface="Times New Roman" panose="02020603050405020304" pitchFamily="18" charset="0"/>
                        </a:rPr>
                        <a:t>Deployment </a:t>
                      </a:r>
                      <a:r>
                        <a:rPr lang="en-US" sz="1200" dirty="0">
                          <a:latin typeface="Times New Roman" panose="02020603050405020304" pitchFamily="18" charset="0"/>
                          <a:cs typeface="Times New Roman" panose="02020603050405020304" pitchFamily="18" charset="0"/>
                        </a:rPr>
                        <a:t>and Evaluation</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dirty="0">
                          <a:effectLst/>
                          <a:latin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dirty="0">
                          <a:effectLst/>
                          <a:latin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dirty="0">
                          <a:effectLst/>
                          <a:latin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dirty="0">
                          <a:effectLst/>
                          <a:latin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dirty="0">
                          <a:effectLst/>
                          <a:latin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dirty="0">
                          <a:effectLst/>
                          <a:latin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r>
                        <a:rPr lang="en-US" sz="1200" dirty="0">
                          <a:effectLst/>
                          <a:latin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7153755"/>
                  </a:ext>
                </a:extLst>
              </a:tr>
              <a:tr h="414610">
                <a:tc>
                  <a:txBody>
                    <a:bodyPr/>
                    <a:lstStyle/>
                    <a:p>
                      <a:r>
                        <a:rPr lang="en-US" sz="1200" dirty="0">
                          <a:latin typeface="Times New Roman" panose="02020603050405020304" pitchFamily="18" charset="0"/>
                          <a:cs typeface="Times New Roman" panose="02020603050405020304" pitchFamily="18" charset="0"/>
                        </a:rPr>
                        <a:t>6</a:t>
                      </a:r>
                    </a:p>
                  </a:txBody>
                  <a:tcPr/>
                </a:tc>
                <a:tc>
                  <a:txBody>
                    <a:bodyPr/>
                    <a:lstStyle/>
                    <a:p>
                      <a:r>
                        <a:rPr lang="en-US" sz="1200" dirty="0">
                          <a:latin typeface="Times New Roman" panose="02020603050405020304" pitchFamily="18" charset="0"/>
                          <a:cs typeface="Times New Roman" panose="02020603050405020304" pitchFamily="18" charset="0"/>
                        </a:rPr>
                        <a:t>Documentation and Presentation</a:t>
                      </a:r>
                    </a:p>
                  </a:txBody>
                  <a:tcPr/>
                </a:tc>
                <a:tc>
                  <a:txBody>
                    <a:bodyPr/>
                    <a:lstStyle/>
                    <a:p>
                      <a:endParaRPr lang="en-US" sz="1200">
                        <a:latin typeface="Times New Roman" panose="02020603050405020304" pitchFamily="18" charset="0"/>
                        <a:cs typeface="Times New Roman" panose="02020603050405020304" pitchFamily="18" charset="0"/>
                      </a:endParaRPr>
                    </a:p>
                  </a:txBody>
                  <a:tcPr/>
                </a:tc>
                <a:tc>
                  <a:txBody>
                    <a:bodyPr/>
                    <a:lstStyle/>
                    <a:p>
                      <a:endParaRPr lang="en-US" sz="1200">
                        <a:latin typeface="Times New Roman" panose="02020603050405020304" pitchFamily="18" charset="0"/>
                        <a:cs typeface="Times New Roman" panose="02020603050405020304" pitchFamily="18" charset="0"/>
                      </a:endParaRPr>
                    </a:p>
                  </a:txBody>
                  <a:tcPr/>
                </a:tc>
                <a:tc>
                  <a:txBody>
                    <a:bodyPr/>
                    <a:lstStyle/>
                    <a:p>
                      <a:endParaRPr lang="en-US" sz="1200">
                        <a:latin typeface="Times New Roman" panose="02020603050405020304" pitchFamily="18" charset="0"/>
                        <a:cs typeface="Times New Roman" panose="02020603050405020304" pitchFamily="18" charset="0"/>
                      </a:endParaRPr>
                    </a:p>
                  </a:txBody>
                  <a:tcPr/>
                </a:tc>
                <a:tc>
                  <a:txBody>
                    <a:bodyPr/>
                    <a:lstStyle/>
                    <a:p>
                      <a:endParaRPr lang="en-US" sz="1200">
                        <a:latin typeface="Times New Roman" panose="02020603050405020304" pitchFamily="18" charset="0"/>
                        <a:cs typeface="Times New Roman" panose="02020603050405020304" pitchFamily="18" charset="0"/>
                      </a:endParaRPr>
                    </a:p>
                  </a:txBody>
                  <a:tcPr/>
                </a:tc>
                <a:tc>
                  <a:txBody>
                    <a:bodyPr/>
                    <a:lstStyle/>
                    <a:p>
                      <a:endParaRPr lang="en-US" sz="1200">
                        <a:latin typeface="Times New Roman" panose="02020603050405020304" pitchFamily="18" charset="0"/>
                        <a:cs typeface="Times New Roman" panose="02020603050405020304" pitchFamily="18" charset="0"/>
                      </a:endParaRPr>
                    </a:p>
                  </a:txBody>
                  <a:tcPr/>
                </a:tc>
                <a:tc>
                  <a:txBody>
                    <a:bodyPr/>
                    <a:lstStyle/>
                    <a:p>
                      <a:endParaRPr lang="en-US" sz="1200">
                        <a:latin typeface="Times New Roman" panose="02020603050405020304" pitchFamily="18" charset="0"/>
                        <a:cs typeface="Times New Roman" panose="02020603050405020304" pitchFamily="18" charset="0"/>
                      </a:endParaRPr>
                    </a:p>
                  </a:txBody>
                  <a:tcPr/>
                </a:tc>
                <a:tc>
                  <a:txBody>
                    <a:bodyPr/>
                    <a:lstStyle/>
                    <a:p>
                      <a:endParaRPr 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61890950"/>
                  </a:ext>
                </a:extLst>
              </a:tr>
            </a:tbl>
          </a:graphicData>
        </a:graphic>
      </p:graphicFrame>
    </p:spTree>
    <p:extLst>
      <p:ext uri="{BB962C8B-B14F-4D97-AF65-F5344CB8AC3E}">
        <p14:creationId xmlns:p14="http://schemas.microsoft.com/office/powerpoint/2010/main" val="4137591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F4B1D-1890-E19A-6E00-533BDA08E9DA}"/>
              </a:ext>
            </a:extLst>
          </p:cNvPr>
          <p:cNvSpPr>
            <a:spLocks noGrp="1"/>
          </p:cNvSpPr>
          <p:nvPr>
            <p:ph type="title"/>
          </p:nvPr>
        </p:nvSpPr>
        <p:spPr>
          <a:xfrm>
            <a:off x="677334" y="609600"/>
            <a:ext cx="8596668" cy="546100"/>
          </a:xfrm>
        </p:spPr>
        <p:txBody>
          <a:bodyPr/>
          <a:lstStyle/>
          <a:p>
            <a:r>
              <a:rPr lang="en-US" sz="1800" dirty="0">
                <a:effectLst/>
                <a:ea typeface="Calibri" panose="020F0502020204030204" pitchFamily="34" charset="0"/>
                <a:cs typeface="Times New Roman" panose="02020603050405020304" pitchFamily="18" charset="0"/>
              </a:rPr>
              <a:t>REFERENCES</a:t>
            </a:r>
            <a:endParaRPr lang="en-US"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BAA5CAA8-4FDF-4190-44D5-26E380FD488B}"/>
              </a:ext>
            </a:extLst>
          </p:cNvPr>
          <p:cNvSpPr>
            <a:spLocks noGrp="1"/>
          </p:cNvSpPr>
          <p:nvPr>
            <p:ph idx="1"/>
          </p:nvPr>
        </p:nvSpPr>
        <p:spPr>
          <a:xfrm>
            <a:off x="677334" y="1155701"/>
            <a:ext cx="8596668" cy="4885662"/>
          </a:xfrm>
        </p:spPr>
        <p:txBody>
          <a:bodyPr>
            <a:normAutofit fontScale="77500" lnSpcReduction="20000"/>
          </a:bodyPr>
          <a:lstStyle/>
          <a:p>
            <a:pPr marL="342900" marR="0" lvl="0" indent="-342900">
              <a:buFont typeface="+mj-lt"/>
              <a:buAutoNum type="arabicPeriod"/>
              <a:tabLst>
                <a:tab pos="457200" algn="l"/>
              </a:tabLst>
            </a:pPr>
            <a:r>
              <a:rPr lang="en-US" sz="1800" dirty="0" err="1">
                <a:effectLst/>
                <a:latin typeface="Times New Roman" panose="02020603050405020304" pitchFamily="18" charset="0"/>
                <a:ea typeface="Times New Roman" panose="02020603050405020304" pitchFamily="18" charset="0"/>
              </a:rPr>
              <a:t>Kabarak</a:t>
            </a:r>
            <a:r>
              <a:rPr lang="en-US" sz="1800" dirty="0">
                <a:effectLst/>
                <a:latin typeface="Times New Roman" panose="02020603050405020304" pitchFamily="18" charset="0"/>
                <a:ea typeface="Times New Roman" panose="02020603050405020304" pitchFamily="18" charset="0"/>
              </a:rPr>
              <a:t> University. (2023). </a:t>
            </a:r>
            <a:r>
              <a:rPr lang="en-US" sz="1800" i="1" dirty="0">
                <a:effectLst/>
                <a:latin typeface="Times New Roman" panose="02020603050405020304" pitchFamily="18" charset="0"/>
                <a:ea typeface="Times New Roman" panose="02020603050405020304" pitchFamily="18" charset="0"/>
              </a:rPr>
              <a:t>Online Student Voting System Overview</a:t>
            </a:r>
            <a:r>
              <a:rPr lang="en-US" sz="1800" dirty="0">
                <a:effectLst/>
                <a:latin typeface="Times New Roman" panose="02020603050405020304" pitchFamily="18" charset="0"/>
                <a:ea typeface="Times New Roman" panose="02020603050405020304" pitchFamily="18" charset="0"/>
              </a:rPr>
              <a:t>. Retrieved from </a:t>
            </a:r>
            <a:r>
              <a:rPr lang="en-US" sz="1800" u="sng" dirty="0">
                <a:solidFill>
                  <a:srgbClr val="0563C1"/>
                </a:solidFill>
                <a:effectLst/>
                <a:latin typeface="Times New Roman" panose="02020603050405020304" pitchFamily="18" charset="0"/>
                <a:ea typeface="Times New Roman" panose="02020603050405020304" pitchFamily="18" charset="0"/>
                <a:hlinkClick r:id="rId2"/>
              </a:rPr>
              <a:t>https://kabarak.ac.ke/evis</a:t>
            </a:r>
            <a:endParaRPr lang="en-US" sz="1800" dirty="0">
              <a:effectLst/>
              <a:latin typeface="Times New Roman" panose="02020603050405020304" pitchFamily="18" charset="0"/>
              <a:ea typeface="Times New Roman" panose="02020603050405020304" pitchFamily="18" charset="0"/>
            </a:endParaRPr>
          </a:p>
          <a:p>
            <a:pPr marL="342900" marR="0" lvl="0" indent="-342900">
              <a:buFont typeface="+mj-lt"/>
              <a:buAutoNum type="arabicPeriod"/>
              <a:tabLst>
                <a:tab pos="457200" algn="l"/>
              </a:tabLst>
            </a:pPr>
            <a:r>
              <a:rPr lang="en-US" sz="1800" dirty="0">
                <a:effectLst/>
                <a:latin typeface="Times New Roman" panose="02020603050405020304" pitchFamily="18" charset="0"/>
                <a:ea typeface="Times New Roman" panose="02020603050405020304" pitchFamily="18" charset="0"/>
              </a:rPr>
              <a:t>University of Nairobi. (2023). </a:t>
            </a:r>
            <a:r>
              <a:rPr lang="en-US" sz="1800" i="1" dirty="0">
                <a:effectLst/>
                <a:latin typeface="Times New Roman" panose="02020603050405020304" pitchFamily="18" charset="0"/>
                <a:ea typeface="Times New Roman" panose="02020603050405020304" pitchFamily="18" charset="0"/>
              </a:rPr>
              <a:t>Student Management Information System (SMIS) Portal</a:t>
            </a:r>
            <a:r>
              <a:rPr lang="en-US" sz="1800" dirty="0">
                <a:effectLst/>
                <a:latin typeface="Times New Roman" panose="02020603050405020304" pitchFamily="18" charset="0"/>
                <a:ea typeface="Times New Roman" panose="02020603050405020304" pitchFamily="18" charset="0"/>
              </a:rPr>
              <a:t>. Retrieved from </a:t>
            </a:r>
            <a:r>
              <a:rPr lang="en-US" sz="1800" u="sng" dirty="0">
                <a:solidFill>
                  <a:srgbClr val="0563C1"/>
                </a:solidFill>
                <a:effectLst/>
                <a:latin typeface="Times New Roman" panose="02020603050405020304" pitchFamily="18" charset="0"/>
                <a:ea typeface="Times New Roman" panose="02020603050405020304" pitchFamily="18" charset="0"/>
                <a:hlinkClick r:id="rId3"/>
              </a:rPr>
              <a:t>https://vote.uonbi.ac.ke/</a:t>
            </a:r>
            <a:endParaRPr lang="en-US" sz="1800" dirty="0">
              <a:effectLst/>
              <a:latin typeface="Times New Roman" panose="02020603050405020304" pitchFamily="18" charset="0"/>
              <a:ea typeface="Times New Roman" panose="02020603050405020304" pitchFamily="18" charset="0"/>
            </a:endParaRPr>
          </a:p>
          <a:p>
            <a:pPr marL="342900" marR="0" lvl="0" indent="-342900">
              <a:buFont typeface="+mj-lt"/>
              <a:buAutoNum type="arabicPeriod"/>
              <a:tabLst>
                <a:tab pos="457200" algn="l"/>
              </a:tabLst>
            </a:pPr>
            <a:r>
              <a:rPr lang="en-US" sz="1800" dirty="0">
                <a:effectLst/>
                <a:latin typeface="Times New Roman" panose="02020603050405020304" pitchFamily="18" charset="0"/>
                <a:ea typeface="Times New Roman" panose="02020603050405020304" pitchFamily="18" charset="0"/>
              </a:rPr>
              <a:t>Kirinyaga University. (2024). </a:t>
            </a:r>
            <a:r>
              <a:rPr lang="en-US" sz="1800" i="1" dirty="0">
                <a:effectLst/>
                <a:latin typeface="Times New Roman" panose="02020603050405020304" pitchFamily="18" charset="0"/>
                <a:ea typeface="Times New Roman" panose="02020603050405020304" pitchFamily="18" charset="0"/>
              </a:rPr>
              <a:t>ICT Department Reports on Student Online Voting System</a:t>
            </a:r>
            <a:r>
              <a:rPr lang="en-US" sz="1800" dirty="0">
                <a:effectLst/>
                <a:latin typeface="Times New Roman" panose="02020603050405020304" pitchFamily="18" charset="0"/>
                <a:ea typeface="Times New Roman" panose="02020603050405020304" pitchFamily="18" charset="0"/>
              </a:rPr>
              <a:t>. Retrieved from </a:t>
            </a:r>
            <a:r>
              <a:rPr lang="en-US" sz="1800" u="sng" dirty="0">
                <a:solidFill>
                  <a:srgbClr val="0563C1"/>
                </a:solidFill>
                <a:effectLst/>
                <a:latin typeface="Times New Roman" panose="02020603050405020304" pitchFamily="18" charset="0"/>
                <a:ea typeface="Times New Roman" panose="02020603050405020304" pitchFamily="18" charset="0"/>
                <a:hlinkClick r:id="rId4"/>
              </a:rPr>
              <a:t>https://www.ijssit.com/main/wp-content/uploads/2018/05/Student-Online-Voting-System</a:t>
            </a:r>
            <a:r>
              <a:rPr lang="en-US" sz="1800" dirty="0">
                <a:effectLst/>
                <a:latin typeface="Times New Roman" panose="02020603050405020304" pitchFamily="18" charset="0"/>
                <a:ea typeface="Times New Roman" panose="02020603050405020304" pitchFamily="18" charset="0"/>
              </a:rPr>
              <a:t>.pdf</a:t>
            </a:r>
          </a:p>
          <a:p>
            <a:pPr marL="342900" marR="0" lvl="0" indent="-342900">
              <a:buFont typeface="+mj-lt"/>
              <a:buAutoNum type="arabicPeriod"/>
              <a:tabLst>
                <a:tab pos="457200" algn="l"/>
              </a:tabLst>
            </a:pPr>
            <a:r>
              <a:rPr lang="en-US" sz="1800" dirty="0">
                <a:effectLst/>
                <a:latin typeface="Times New Roman" panose="02020603050405020304" pitchFamily="18" charset="0"/>
                <a:ea typeface="Times New Roman" panose="02020603050405020304" pitchFamily="18" charset="0"/>
              </a:rPr>
              <a:t>Embu University. (2024). </a:t>
            </a:r>
            <a:r>
              <a:rPr lang="en-US" sz="1800" i="1" dirty="0">
                <a:effectLst/>
                <a:latin typeface="Times New Roman" panose="02020603050405020304" pitchFamily="18" charset="0"/>
                <a:ea typeface="Times New Roman" panose="02020603050405020304" pitchFamily="18" charset="0"/>
              </a:rPr>
              <a:t>Student Online Voting Portal</a:t>
            </a:r>
            <a:r>
              <a:rPr lang="en-US" sz="1800" dirty="0">
                <a:effectLst/>
                <a:latin typeface="Times New Roman" panose="02020603050405020304" pitchFamily="18" charset="0"/>
                <a:ea typeface="Times New Roman" panose="02020603050405020304" pitchFamily="18" charset="0"/>
              </a:rPr>
              <a:t>. Retrieved from </a:t>
            </a:r>
            <a:r>
              <a:rPr lang="en-US" sz="1800" u="sng" dirty="0">
                <a:solidFill>
                  <a:srgbClr val="0563C1"/>
                </a:solidFill>
                <a:effectLst/>
                <a:latin typeface="Times New Roman" panose="02020603050405020304" pitchFamily="18" charset="0"/>
                <a:ea typeface="Times New Roman" panose="02020603050405020304" pitchFamily="18" charset="0"/>
                <a:hlinkClick r:id="rId5"/>
              </a:rPr>
              <a:t>https://departments.embuni.ac.ke/ict/index.php/66-record-breaking-e-voting-success-at-the-university-of-embu</a:t>
            </a:r>
            <a:endParaRPr lang="en-US" sz="1800" dirty="0">
              <a:effectLst/>
              <a:latin typeface="Times New Roman" panose="02020603050405020304" pitchFamily="18" charset="0"/>
              <a:ea typeface="Times New Roman" panose="02020603050405020304" pitchFamily="18" charset="0"/>
            </a:endParaRPr>
          </a:p>
          <a:p>
            <a:pPr marL="342900" marR="0" lvl="0" indent="-342900">
              <a:buFont typeface="+mj-lt"/>
              <a:buAutoNum type="arabicPeriod"/>
              <a:tabLst>
                <a:tab pos="457200" algn="l"/>
              </a:tabLst>
            </a:pPr>
            <a:r>
              <a:rPr lang="en-US" sz="1800" dirty="0">
                <a:effectLst/>
                <a:latin typeface="Times New Roman" panose="02020603050405020304" pitchFamily="18" charset="0"/>
                <a:ea typeface="Times New Roman" panose="02020603050405020304" pitchFamily="18" charset="0"/>
              </a:rPr>
              <a:t>Nielsen, J. (2023). </a:t>
            </a:r>
            <a:r>
              <a:rPr lang="en-US" sz="1800" i="1" dirty="0">
                <a:effectLst/>
                <a:latin typeface="Times New Roman" panose="02020603050405020304" pitchFamily="18" charset="0"/>
                <a:ea typeface="Times New Roman" panose="02020603050405020304" pitchFamily="18" charset="0"/>
              </a:rPr>
              <a:t>Usability Engineering in Human-Computer Interaction</a:t>
            </a:r>
            <a:r>
              <a:rPr lang="en-US" sz="1800" dirty="0">
                <a:effectLst/>
                <a:latin typeface="Times New Roman" panose="02020603050405020304" pitchFamily="18" charset="0"/>
                <a:ea typeface="Times New Roman" panose="02020603050405020304" pitchFamily="18" charset="0"/>
              </a:rPr>
              <a:t>. Morgan Kaufmann Publishers.</a:t>
            </a:r>
          </a:p>
          <a:p>
            <a:pPr marL="342900" marR="0" lvl="0" indent="-342900">
              <a:buFont typeface="+mj-lt"/>
              <a:buAutoNum type="arabicPeriod"/>
              <a:tabLst>
                <a:tab pos="457200" algn="l"/>
              </a:tabLst>
            </a:pPr>
            <a:r>
              <a:rPr lang="en-US" sz="1800" dirty="0">
                <a:effectLst/>
                <a:latin typeface="Times New Roman" panose="02020603050405020304" pitchFamily="18" charset="0"/>
                <a:ea typeface="Times New Roman" panose="02020603050405020304" pitchFamily="18" charset="0"/>
              </a:rPr>
              <a:t>KCA University. (2025). </a:t>
            </a:r>
            <a:r>
              <a:rPr lang="en-US" sz="1800" i="1" dirty="0">
                <a:effectLst/>
                <a:latin typeface="Times New Roman" panose="02020603050405020304" pitchFamily="18" charset="0"/>
                <a:ea typeface="Times New Roman" panose="02020603050405020304" pitchFamily="18" charset="0"/>
              </a:rPr>
              <a:t>SAKU Electoral Commission Guidelines and Constitution (2021 Amendment)</a:t>
            </a:r>
            <a:r>
              <a:rPr lang="en-US" sz="1800" dirty="0">
                <a:effectLst/>
                <a:latin typeface="Times New Roman" panose="02020603050405020304" pitchFamily="18" charset="0"/>
                <a:ea typeface="Times New Roman" panose="02020603050405020304" pitchFamily="18" charset="0"/>
              </a:rPr>
              <a:t>. Internal Document, KCA University.</a:t>
            </a:r>
          </a:p>
          <a:p>
            <a:pPr marL="342900" marR="0" lvl="0" indent="-342900">
              <a:buFont typeface="+mj-lt"/>
              <a:buAutoNum type="arabicPeriod"/>
              <a:tabLst>
                <a:tab pos="457200" algn="l"/>
              </a:tabLst>
            </a:pPr>
            <a:r>
              <a:rPr lang="en-US" sz="1800" dirty="0">
                <a:effectLst/>
                <a:latin typeface="Times New Roman" panose="02020603050405020304" pitchFamily="18" charset="0"/>
                <a:ea typeface="Times New Roman" panose="02020603050405020304" pitchFamily="18" charset="0"/>
              </a:rPr>
              <a:t>Google Developers. (2024). </a:t>
            </a:r>
            <a:r>
              <a:rPr lang="en-US" sz="1800" i="1" dirty="0">
                <a:effectLst/>
                <a:latin typeface="Times New Roman" panose="02020603050405020304" pitchFamily="18" charset="0"/>
                <a:ea typeface="Times New Roman" panose="02020603050405020304" pitchFamily="18" charset="0"/>
              </a:rPr>
              <a:t>Firebase Documentation</a:t>
            </a:r>
            <a:r>
              <a:rPr lang="en-US" sz="1800" dirty="0">
                <a:effectLst/>
                <a:latin typeface="Times New Roman" panose="02020603050405020304" pitchFamily="18" charset="0"/>
                <a:ea typeface="Times New Roman" panose="02020603050405020304" pitchFamily="18" charset="0"/>
              </a:rPr>
              <a:t>. Retrieved from </a:t>
            </a:r>
            <a:r>
              <a:rPr lang="en-US" sz="1800" u="sng" dirty="0">
                <a:solidFill>
                  <a:srgbClr val="0563C1"/>
                </a:solidFill>
                <a:effectLst/>
                <a:latin typeface="Times New Roman" panose="02020603050405020304" pitchFamily="18" charset="0"/>
                <a:ea typeface="Times New Roman" panose="02020603050405020304" pitchFamily="18" charset="0"/>
                <a:hlinkClick r:id="rId6"/>
              </a:rPr>
              <a:t>https://firebase.google.com/docs</a:t>
            </a:r>
            <a:endParaRPr lang="en-US" sz="1800" dirty="0">
              <a:effectLst/>
              <a:latin typeface="Times New Roman" panose="02020603050405020304" pitchFamily="18" charset="0"/>
              <a:ea typeface="Times New Roman" panose="02020603050405020304" pitchFamily="18" charset="0"/>
            </a:endParaRPr>
          </a:p>
          <a:p>
            <a:pPr marL="342900" marR="0" lvl="0" indent="-342900">
              <a:buFont typeface="+mj-lt"/>
              <a:buAutoNum type="arabicPeriod"/>
              <a:tabLst>
                <a:tab pos="457200" algn="l"/>
              </a:tabLst>
            </a:pPr>
            <a:r>
              <a:rPr lang="en-US" sz="1800" dirty="0">
                <a:effectLst/>
                <a:latin typeface="Times New Roman" panose="02020603050405020304" pitchFamily="18" charset="0"/>
                <a:ea typeface="Times New Roman" panose="02020603050405020304" pitchFamily="18" charset="0"/>
              </a:rPr>
              <a:t>Android Developers. (2024). </a:t>
            </a:r>
            <a:r>
              <a:rPr lang="en-US" sz="1800" i="1" dirty="0">
                <a:effectLst/>
                <a:latin typeface="Times New Roman" panose="02020603050405020304" pitchFamily="18" charset="0"/>
                <a:ea typeface="Times New Roman" panose="02020603050405020304" pitchFamily="18" charset="0"/>
              </a:rPr>
              <a:t>Android Studio User Guide</a:t>
            </a:r>
            <a:r>
              <a:rPr lang="en-US" sz="1800" dirty="0">
                <a:effectLst/>
                <a:latin typeface="Times New Roman" panose="02020603050405020304" pitchFamily="18" charset="0"/>
                <a:ea typeface="Times New Roman" panose="02020603050405020304" pitchFamily="18" charset="0"/>
              </a:rPr>
              <a:t>. Retrieved from </a:t>
            </a:r>
            <a:r>
              <a:rPr lang="en-US" sz="1800" u="sng" dirty="0">
                <a:solidFill>
                  <a:srgbClr val="0563C1"/>
                </a:solidFill>
                <a:effectLst/>
                <a:latin typeface="Times New Roman" panose="02020603050405020304" pitchFamily="18" charset="0"/>
                <a:ea typeface="Times New Roman" panose="02020603050405020304" pitchFamily="18" charset="0"/>
                <a:hlinkClick r:id="rId7"/>
              </a:rPr>
              <a:t>https://developer.android.com/studio/</a:t>
            </a:r>
            <a:endParaRPr lang="en-US" sz="1800" dirty="0">
              <a:effectLst/>
              <a:latin typeface="Times New Roman" panose="02020603050405020304" pitchFamily="18" charset="0"/>
              <a:ea typeface="Times New Roman" panose="02020603050405020304" pitchFamily="18" charset="0"/>
            </a:endParaRPr>
          </a:p>
          <a:p>
            <a:pPr marL="342900" marR="0" lvl="0" indent="-342900">
              <a:buFont typeface="+mj-lt"/>
              <a:buAutoNum type="arabicPeriod"/>
              <a:tabLst>
                <a:tab pos="457200" algn="l"/>
              </a:tabLst>
            </a:pPr>
            <a:r>
              <a:rPr lang="en-US" sz="1800" u="sng" dirty="0">
                <a:solidFill>
                  <a:srgbClr val="0563C1"/>
                </a:solidFill>
                <a:effectLst/>
                <a:latin typeface="Times New Roman" panose="02020603050405020304" pitchFamily="18" charset="0"/>
                <a:ea typeface="Times New Roman" panose="02020603050405020304" pitchFamily="18" charset="0"/>
                <a:hlinkClick r:id="rId8"/>
              </a:rPr>
              <a:t>https://www.studocu.com/row/document/kca-university/econometric/student-online-voting-system/21214639?origin=home-recent-1</a:t>
            </a:r>
            <a:r>
              <a:rPr lang="en-US" sz="1800" dirty="0">
                <a:effectLst/>
                <a:latin typeface="Times New Roman" panose="02020603050405020304" pitchFamily="18" charset="0"/>
                <a:ea typeface="Times New Roman" panose="02020603050405020304" pitchFamily="18" charset="0"/>
              </a:rPr>
              <a:t> International Journal of Social Science and Information Technology, ISSN 2412-0294, </a:t>
            </a:r>
            <a:r>
              <a:rPr lang="en-US" sz="1800" dirty="0" err="1">
                <a:effectLst/>
                <a:latin typeface="Times New Roman" panose="02020603050405020304" pitchFamily="18" charset="0"/>
                <a:ea typeface="Times New Roman" panose="02020603050405020304" pitchFamily="18" charset="0"/>
              </a:rPr>
              <a:t>VolIV</a:t>
            </a:r>
            <a:r>
              <a:rPr lang="en-US" sz="1800" dirty="0">
                <a:effectLst/>
                <a:latin typeface="Times New Roman" panose="02020603050405020304" pitchFamily="18" charset="0"/>
                <a:ea typeface="Times New Roman" panose="02020603050405020304" pitchFamily="18" charset="0"/>
              </a:rPr>
              <a:t> Issue V, May 2018</a:t>
            </a:r>
          </a:p>
          <a:p>
            <a:pPr marL="342900" marR="0" lvl="0" indent="-342900">
              <a:buFont typeface="+mj-lt"/>
              <a:buAutoNum type="arabicPeriod"/>
              <a:tabLst>
                <a:tab pos="457200" algn="l"/>
              </a:tabLst>
            </a:pPr>
            <a:r>
              <a:rPr lang="en-US" sz="1800" u="sng" dirty="0">
                <a:solidFill>
                  <a:srgbClr val="0563C1"/>
                </a:solidFill>
                <a:effectLst/>
                <a:latin typeface="Times New Roman" panose="02020603050405020304" pitchFamily="18" charset="0"/>
                <a:ea typeface="Times New Roman" panose="02020603050405020304" pitchFamily="18" charset="0"/>
                <a:hlinkClick r:id="rId9"/>
              </a:rPr>
              <a:t>https://ijrpr.com/uploads/V3ISSUE10/IJRPR7394.pdf</a:t>
            </a:r>
            <a:r>
              <a:rPr lang="en-US" sz="1800" dirty="0">
                <a:effectLst/>
                <a:latin typeface="Times New Roman" panose="02020603050405020304" pitchFamily="18" charset="0"/>
                <a:ea typeface="Times New Roman" panose="02020603050405020304" pitchFamily="18" charset="0"/>
              </a:rPr>
              <a:t> International Journal of Research Publication and Reviews, Vol 3, no 10, pp 582-586, October 2022</a:t>
            </a:r>
          </a:p>
          <a:p>
            <a:pPr marL="342900" marR="0" lvl="0" indent="-342900">
              <a:buFont typeface="+mj-lt"/>
              <a:buAutoNum type="arabicPeriod"/>
              <a:tabLst>
                <a:tab pos="457200" algn="l"/>
              </a:tabLst>
            </a:pPr>
            <a:r>
              <a:rPr lang="en-US" sz="1800" u="sng" dirty="0">
                <a:solidFill>
                  <a:srgbClr val="0563C1"/>
                </a:solidFill>
                <a:effectLst/>
                <a:latin typeface="Times New Roman" panose="02020603050405020304" pitchFamily="18" charset="0"/>
                <a:ea typeface="Times New Roman" panose="02020603050405020304" pitchFamily="18" charset="0"/>
                <a:hlinkClick r:id="rId10"/>
              </a:rPr>
              <a:t>https://papers.ssrn.com/sol3/papers.cfm?abstract_id=4810277</a:t>
            </a:r>
            <a:r>
              <a:rPr lang="en-US" sz="1800" dirty="0">
                <a:effectLst/>
                <a:latin typeface="Times New Roman" panose="02020603050405020304" pitchFamily="18" charset="0"/>
                <a:ea typeface="Times New Roman" panose="02020603050405020304" pitchFamily="18" charset="0"/>
              </a:rPr>
              <a:t> Acharya, Kamal, Online Voting System Project (April 28, 2024). </a:t>
            </a:r>
          </a:p>
          <a:p>
            <a:pPr>
              <a:buFont typeface="+mj-lt"/>
              <a:buAutoNum type="arabicPeriod"/>
            </a:pPr>
            <a:endParaRPr lang="en-US" dirty="0"/>
          </a:p>
        </p:txBody>
      </p:sp>
    </p:spTree>
    <p:extLst>
      <p:ext uri="{BB962C8B-B14F-4D97-AF65-F5344CB8AC3E}">
        <p14:creationId xmlns:p14="http://schemas.microsoft.com/office/powerpoint/2010/main" val="422981656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3157</TotalTime>
  <Words>1818</Words>
  <Application>Microsoft Office PowerPoint</Application>
  <PresentationFormat>Widescreen</PresentationFormat>
  <Paragraphs>205</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Times New Roman</vt:lpstr>
      <vt:lpstr>Trebuchet MS</vt:lpstr>
      <vt:lpstr>Wingdings 3</vt:lpstr>
      <vt:lpstr>Facet</vt:lpstr>
      <vt:lpstr>PowerPoint Presentation</vt:lpstr>
      <vt:lpstr>Background to the Problem</vt:lpstr>
      <vt:lpstr>Problem Statement </vt:lpstr>
      <vt:lpstr>Key Terms</vt:lpstr>
      <vt:lpstr>Proposed Solution</vt:lpstr>
      <vt:lpstr>Research Objectives</vt:lpstr>
      <vt:lpstr>Scope of the Study</vt:lpstr>
      <vt:lpstr>Significance of the Study</vt:lpstr>
      <vt:lpstr>Literature Review</vt:lpstr>
      <vt:lpstr>continuation</vt:lpstr>
      <vt:lpstr>Project Methodology</vt:lpstr>
      <vt:lpstr>PowerPoint Presentation</vt:lpstr>
      <vt:lpstr>Project Resources and Budget</vt:lpstr>
      <vt:lpstr>Estimated Budget</vt:lpstr>
      <vt:lpstr>Project Schedule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KAREN KIARA</dc:creator>
  <cp:lastModifiedBy>KAREN KIARA</cp:lastModifiedBy>
  <cp:revision>5</cp:revision>
  <dcterms:created xsi:type="dcterms:W3CDTF">2025-11-10T08:43:32Z</dcterms:created>
  <dcterms:modified xsi:type="dcterms:W3CDTF">2025-11-13T19:32:19Z</dcterms:modified>
</cp:coreProperties>
</file>